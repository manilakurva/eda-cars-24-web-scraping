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92" r:id="rId2"/>
    <p:sldId id="261" r:id="rId3"/>
    <p:sldId id="262" r:id="rId4"/>
    <p:sldId id="269" r:id="rId5"/>
    <p:sldId id="264" r:id="rId6"/>
    <p:sldId id="267" r:id="rId7"/>
    <p:sldId id="268" r:id="rId8"/>
    <p:sldId id="275" r:id="rId9"/>
    <p:sldId id="277" r:id="rId10"/>
    <p:sldId id="278" r:id="rId11"/>
    <p:sldId id="271" r:id="rId12"/>
    <p:sldId id="289" r:id="rId13"/>
    <p:sldId id="281" r:id="rId14"/>
    <p:sldId id="287" r:id="rId15"/>
    <p:sldId id="282" r:id="rId16"/>
    <p:sldId id="283" r:id="rId17"/>
    <p:sldId id="284" r:id="rId18"/>
    <p:sldId id="291" r:id="rId19"/>
    <p:sldId id="272" r:id="rId20"/>
    <p:sldId id="288"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Manila" userId="9dfcee945cb88862" providerId="LiveId" clId="{BE9257C6-9F43-4463-B1B2-14225CE01E72}"/>
    <pc:docChg chg="custSel delSld modSld">
      <pc:chgData name="K Manila" userId="9dfcee945cb88862" providerId="LiveId" clId="{BE9257C6-9F43-4463-B1B2-14225CE01E72}" dt="2026-02-17T16:13:06.483" v="736" actId="2696"/>
      <pc:docMkLst>
        <pc:docMk/>
      </pc:docMkLst>
      <pc:sldChg chg="modSp del mod">
        <pc:chgData name="K Manila" userId="9dfcee945cb88862" providerId="LiveId" clId="{BE9257C6-9F43-4463-B1B2-14225CE01E72}" dt="2026-02-17T16:12:44.976" v="734" actId="2696"/>
        <pc:sldMkLst>
          <pc:docMk/>
          <pc:sldMk cId="0" sldId="257"/>
        </pc:sldMkLst>
      </pc:sldChg>
      <pc:sldChg chg="del">
        <pc:chgData name="K Manila" userId="9dfcee945cb88862" providerId="LiveId" clId="{BE9257C6-9F43-4463-B1B2-14225CE01E72}" dt="2026-02-17T16:13:06.483" v="736" actId="2696"/>
        <pc:sldMkLst>
          <pc:docMk/>
          <pc:sldMk cId="0" sldId="259"/>
        </pc:sldMkLst>
      </pc:sldChg>
      <pc:sldChg chg="del">
        <pc:chgData name="K Manila" userId="9dfcee945cb88862" providerId="LiveId" clId="{BE9257C6-9F43-4463-B1B2-14225CE01E72}" dt="2026-02-17T16:12:58.238" v="735" actId="2696"/>
        <pc:sldMkLst>
          <pc:docMk/>
          <pc:sldMk cId="646128646"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DEA6A67B-C742-49F0-B8EA-190D99CF18FB}"/>
            </a:ext>
          </a:extLst>
        </p:cNvPr>
        <p:cNvGrpSpPr/>
        <p:nvPr/>
      </p:nvGrpSpPr>
      <p:grpSpPr>
        <a:xfrm>
          <a:off x="0" y="0"/>
          <a:ext cx="0" cy="0"/>
          <a:chOff x="0" y="0"/>
          <a:chExt cx="0" cy="0"/>
        </a:xfrm>
      </p:grpSpPr>
      <p:sp>
        <p:nvSpPr>
          <p:cNvPr id="95" name="Google Shape;95;p1:notes">
            <a:extLst>
              <a:ext uri="{FF2B5EF4-FFF2-40B4-BE49-F238E27FC236}">
                <a16:creationId xmlns:a16="http://schemas.microsoft.com/office/drawing/2014/main" id="{EB7A4CCC-CD3D-626D-1B2F-D430941A7F9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a:extLst>
              <a:ext uri="{FF2B5EF4-FFF2-40B4-BE49-F238E27FC236}">
                <a16:creationId xmlns:a16="http://schemas.microsoft.com/office/drawing/2014/main" id="{8D63A540-1642-80D8-96D8-79765829AF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702757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https://www.cars24.com/buy-used-cars-delhi-ncr/?sort=bestmatch&amp;serveWarrantyCount=true&amp;storeCityId=1"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C7C5596-0673-2C3F-B775-A02257C12FCC}"/>
            </a:ext>
          </a:extLst>
        </p:cNvPr>
        <p:cNvGrpSpPr/>
        <p:nvPr/>
      </p:nvGrpSpPr>
      <p:grpSpPr>
        <a:xfrm>
          <a:off x="0" y="0"/>
          <a:ext cx="0" cy="0"/>
          <a:chOff x="0" y="0"/>
          <a:chExt cx="0" cy="0"/>
        </a:xfrm>
      </p:grpSpPr>
      <p:pic>
        <p:nvPicPr>
          <p:cNvPr id="98" name="Google Shape;98;p1">
            <a:extLst>
              <a:ext uri="{FF2B5EF4-FFF2-40B4-BE49-F238E27FC236}">
                <a16:creationId xmlns:a16="http://schemas.microsoft.com/office/drawing/2014/main" id="{7B07BDC4-BBE9-456D-1561-D615CE622533}"/>
              </a:ext>
            </a:extLst>
          </p:cNvPr>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20048" y="80333"/>
            <a:ext cx="12190815" cy="6694098"/>
          </a:xfrm>
          <a:prstGeom prst="rect">
            <a:avLst/>
          </a:prstGeom>
          <a:noFill/>
          <a:ln>
            <a:noFill/>
          </a:ln>
        </p:spPr>
      </p:pic>
      <p:sp>
        <p:nvSpPr>
          <p:cNvPr id="99" name="Google Shape;99;p1">
            <a:extLst>
              <a:ext uri="{FF2B5EF4-FFF2-40B4-BE49-F238E27FC236}">
                <a16:creationId xmlns:a16="http://schemas.microsoft.com/office/drawing/2014/main" id="{633404F1-1412-72DA-E0C3-A45525F8F9D1}"/>
              </a:ext>
            </a:extLst>
          </p:cNvPr>
          <p:cNvSpPr txBox="1"/>
          <p:nvPr/>
        </p:nvSpPr>
        <p:spPr>
          <a:xfrm>
            <a:off x="2389776" y="3655640"/>
            <a:ext cx="7246189" cy="1015622"/>
          </a:xfrm>
          <a:prstGeom prst="rect">
            <a:avLst/>
          </a:prstGeom>
          <a:noFill/>
          <a:ln>
            <a:noFill/>
          </a:ln>
        </p:spPr>
        <p:txBody>
          <a:bodyPr spcFirstLastPara="1" wrap="square" lIns="91425" tIns="45700" rIns="91425" bIns="45700" anchor="t" anchorCtr="0">
            <a:spAutoFit/>
          </a:bodyPr>
          <a:lstStyle/>
          <a:p>
            <a:pPr lvl="0" algn="ctr"/>
            <a:br>
              <a:rPr lang="en-IN" sz="2000" b="1" i="0" u="none" strike="noStrike" cap="none" dirty="0">
                <a:solidFill>
                  <a:schemeClr val="dk1"/>
                </a:solidFill>
                <a:latin typeface="Calibri"/>
                <a:ea typeface="Calibri"/>
                <a:cs typeface="Calibri"/>
                <a:sym typeface="Calibri"/>
              </a:rPr>
            </a:br>
            <a:r>
              <a:rPr lang="en-IN" sz="2000" b="1" i="0" u="none" strike="noStrike" cap="none" dirty="0">
                <a:solidFill>
                  <a:schemeClr val="dk1"/>
                </a:solidFill>
                <a:latin typeface="Calibri"/>
                <a:ea typeface="Calibri"/>
                <a:cs typeface="Calibri"/>
                <a:sym typeface="Calibri"/>
              </a:rPr>
              <a:t>“</a:t>
            </a:r>
            <a:r>
              <a:rPr lang="en-US" sz="2000" b="1" dirty="0"/>
              <a:t>Exploratory Data Analysis of  Buy Used Car Listings on Cars24”</a:t>
            </a:r>
            <a:endParaRPr sz="2000" b="1" dirty="0"/>
          </a:p>
        </p:txBody>
      </p:sp>
    </p:spTree>
    <p:extLst>
      <p:ext uri="{BB962C8B-B14F-4D97-AF65-F5344CB8AC3E}">
        <p14:creationId xmlns:p14="http://schemas.microsoft.com/office/powerpoint/2010/main" val="420647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FDAFDF-55B0-92B2-50F8-EC47AF55DF82}"/>
              </a:ext>
            </a:extLst>
          </p:cNvPr>
          <p:cNvSpPr txBox="1"/>
          <p:nvPr/>
        </p:nvSpPr>
        <p:spPr>
          <a:xfrm>
            <a:off x="481782" y="353961"/>
            <a:ext cx="10992464" cy="3847207"/>
          </a:xfrm>
          <a:prstGeom prst="rect">
            <a:avLst/>
          </a:prstGeom>
          <a:noFill/>
        </p:spPr>
        <p:txBody>
          <a:bodyPr wrap="square">
            <a:spAutoFit/>
          </a:bodyPr>
          <a:lstStyle/>
          <a:p>
            <a:pPr algn="l">
              <a:spcBef>
                <a:spcPts val="1814"/>
              </a:spcBef>
              <a:spcAft>
                <a:spcPts val="1210"/>
              </a:spcAft>
              <a:buNone/>
            </a:pPr>
            <a:r>
              <a:rPr lang="en-US" sz="2800" b="1" i="0" dirty="0">
                <a:effectLst/>
                <a:latin typeface="Calibri" panose="020F0502020204030204" pitchFamily="34" charset="0"/>
                <a:ea typeface="Calibri" panose="020F0502020204030204" pitchFamily="34" charset="0"/>
                <a:cs typeface="Calibri" panose="020F0502020204030204" pitchFamily="34" charset="0"/>
              </a:rPr>
              <a:t>Business Problem and Use Case Domain Understanding</a:t>
            </a:r>
          </a:p>
          <a:p>
            <a:pPr algn="l">
              <a:buFont typeface="Arial" panose="020B0604020202020204" pitchFamily="34" charset="0"/>
              <a:buChar char="•"/>
            </a:pPr>
            <a:r>
              <a:rPr lang="en-US" sz="1800" b="1" i="0" dirty="0">
                <a:effectLst/>
                <a:latin typeface="Calibri" panose="020F0502020204030204" pitchFamily="34" charset="0"/>
                <a:ea typeface="Calibri" panose="020F0502020204030204" pitchFamily="34" charset="0"/>
                <a:cs typeface="Calibri" panose="020F0502020204030204" pitchFamily="34" charset="0"/>
              </a:rPr>
              <a:t>Business Problem</a:t>
            </a:r>
            <a:r>
              <a:rPr lang="en-US" sz="1800" b="0"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The used car market has a </a:t>
            </a:r>
            <a:r>
              <a:rPr lang="en-US" sz="1600" dirty="0">
                <a:latin typeface="Calibri" panose="020F0502020204030204" pitchFamily="34" charset="0"/>
                <a:ea typeface="Calibri" panose="020F0502020204030204" pitchFamily="34" charset="0"/>
                <a:cs typeface="Calibri" panose="020F0502020204030204" pitchFamily="34" charset="0"/>
              </a:rPr>
              <a:t>wide range </a:t>
            </a:r>
            <a:r>
              <a:rPr lang="en-US" sz="1600" b="0" i="0" dirty="0">
                <a:effectLst/>
                <a:latin typeface="Calibri" panose="020F0502020204030204" pitchFamily="34" charset="0"/>
                <a:ea typeface="Calibri" panose="020F0502020204030204" pitchFamily="34" charset="0"/>
                <a:cs typeface="Calibri" panose="020F0502020204030204" pitchFamily="34" charset="0"/>
              </a:rPr>
              <a:t>of prices, availability, and car conditions that vary across cities.</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The need is to analyze and aggregate this data for better decision-making,  such as price comparison, and identifying trends in car market.</a:t>
            </a: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Use Case Domain</a:t>
            </a:r>
            <a:r>
              <a:rPr lang="en-US" sz="1800" dirty="0">
                <a:latin typeface="Calibri" panose="020F0502020204030204" pitchFamily="34" charset="0"/>
                <a:ea typeface="Calibri" panose="020F0502020204030204" pitchFamily="34" charset="0"/>
                <a:cs typeface="Calibri" panose="020F0502020204030204" pitchFamily="34" charset="0"/>
              </a:rPr>
              <a:t>:</a:t>
            </a:r>
          </a:p>
          <a:p>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This analysis is focused on the Indian used car market. Understanding car prices, models, and other features can help businesses, such as car dealerships or customers, make informed decisions.</a:t>
            </a:r>
          </a:p>
          <a:p>
            <a:pPr marL="742950" lvl="1"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Here I  used data scraped from Cars24, a popular website in India for buying and selling used cars.</a:t>
            </a:r>
          </a:p>
        </p:txBody>
      </p:sp>
    </p:spTree>
    <p:extLst>
      <p:ext uri="{BB962C8B-B14F-4D97-AF65-F5344CB8AC3E}">
        <p14:creationId xmlns:p14="http://schemas.microsoft.com/office/powerpoint/2010/main" val="42840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3C6D-610A-6A96-5AE2-CF04FF0514DF}"/>
              </a:ext>
            </a:extLst>
          </p:cNvPr>
          <p:cNvSpPr>
            <a:spLocks noGrp="1"/>
          </p:cNvSpPr>
          <p:nvPr>
            <p:ph type="title"/>
          </p:nvPr>
        </p:nvSpPr>
        <p:spPr>
          <a:xfrm>
            <a:off x="248264" y="414287"/>
            <a:ext cx="7047271" cy="844242"/>
          </a:xfrm>
        </p:spPr>
        <p:txBody>
          <a:bodyPr>
            <a:normAutofit fontScale="90000"/>
          </a:bodyPr>
          <a:lstStyle/>
          <a:p>
            <a:r>
              <a:rPr lang="en-IN" sz="3200" b="1" dirty="0"/>
              <a:t>  Objective of the Project</a:t>
            </a:r>
            <a:br>
              <a:rPr lang="en-IN" sz="3200" dirty="0"/>
            </a:br>
            <a:endParaRPr lang="en-IN" sz="3200" dirty="0"/>
          </a:p>
        </p:txBody>
      </p:sp>
      <p:sp>
        <p:nvSpPr>
          <p:cNvPr id="3" name="Text Placeholder 2">
            <a:extLst>
              <a:ext uri="{FF2B5EF4-FFF2-40B4-BE49-F238E27FC236}">
                <a16:creationId xmlns:a16="http://schemas.microsoft.com/office/drawing/2014/main" id="{755DA186-253D-A272-F7FF-4467A5480C87}"/>
              </a:ext>
            </a:extLst>
          </p:cNvPr>
          <p:cNvSpPr>
            <a:spLocks noGrp="1"/>
          </p:cNvSpPr>
          <p:nvPr>
            <p:ph type="body" idx="1"/>
          </p:nvPr>
        </p:nvSpPr>
        <p:spPr>
          <a:xfrm>
            <a:off x="336754" y="570271"/>
            <a:ext cx="10813028" cy="5122606"/>
          </a:xfrm>
        </p:spPr>
        <p:txBody>
          <a:bodyPr>
            <a:noAutofit/>
          </a:bodyPr>
          <a:lstStyle/>
          <a:p>
            <a:pPr marL="114300" indent="0">
              <a:buNone/>
            </a:pPr>
            <a:endParaRPr lang="en-US" sz="1600" dirty="0"/>
          </a:p>
          <a:p>
            <a:r>
              <a:rPr lang="en-US" sz="1800" b="1" dirty="0"/>
              <a:t>Main Objective</a:t>
            </a:r>
            <a:r>
              <a:rPr lang="en-US" sz="1800" dirty="0"/>
              <a:t>:</a:t>
            </a:r>
          </a:p>
          <a:p>
            <a:pPr lvl="1"/>
            <a:r>
              <a:rPr lang="en-US" sz="1600" dirty="0"/>
              <a:t>The goal is to extract and analyze used car listings data from various cities in India to gain insights into car prices, conditions, and trends.</a:t>
            </a:r>
          </a:p>
          <a:p>
            <a:pPr lvl="1"/>
            <a:endParaRPr lang="en-US" sz="1600" dirty="0"/>
          </a:p>
          <a:p>
            <a:pPr lvl="1"/>
            <a:r>
              <a:rPr lang="en-US" sz="1600" dirty="0"/>
              <a:t>This can help dealerships optimize their pricing strategies and assist buyers in making well-informed decisions.</a:t>
            </a:r>
          </a:p>
          <a:p>
            <a:pPr lvl="1"/>
            <a:endParaRPr lang="en-US" sz="1600" dirty="0"/>
          </a:p>
          <a:p>
            <a:r>
              <a:rPr lang="en-US" sz="1800" b="1" dirty="0"/>
              <a:t>Specific Goals</a:t>
            </a:r>
            <a:r>
              <a:rPr lang="en-US" sz="1800" dirty="0"/>
              <a:t>:</a:t>
            </a:r>
          </a:p>
          <a:p>
            <a:pPr lvl="1"/>
            <a:r>
              <a:rPr lang="en-US" sz="1600" dirty="0"/>
              <a:t>Scrape used car data (e.g., brand, model, price, mileage, etc.) from multiple cities.</a:t>
            </a:r>
          </a:p>
          <a:p>
            <a:pPr lvl="1"/>
            <a:endParaRPr lang="en-US" sz="1600" dirty="0"/>
          </a:p>
          <a:p>
            <a:pPr lvl="1"/>
            <a:r>
              <a:rPr lang="en-US" sz="1600" dirty="0"/>
              <a:t>Clean and preprocess the data for analysis.</a:t>
            </a:r>
          </a:p>
          <a:p>
            <a:pPr marL="571500" lvl="1" indent="0">
              <a:buNone/>
            </a:pPr>
            <a:endParaRPr lang="en-US" sz="1600" dirty="0"/>
          </a:p>
          <a:p>
            <a:pPr lvl="1"/>
            <a:r>
              <a:rPr lang="en-US" sz="1600" dirty="0"/>
              <a:t>Perform exploratory data analysis (EDA) to identify patterns and correlations.</a:t>
            </a:r>
          </a:p>
          <a:p>
            <a:pPr marL="114300" indent="0">
              <a:buNone/>
            </a:pPr>
            <a:br>
              <a:rPr lang="en-US" sz="1600" dirty="0"/>
            </a:br>
            <a:endParaRPr lang="en-IN" sz="1600" dirty="0"/>
          </a:p>
        </p:txBody>
      </p:sp>
    </p:spTree>
    <p:extLst>
      <p:ext uri="{BB962C8B-B14F-4D97-AF65-F5344CB8AC3E}">
        <p14:creationId xmlns:p14="http://schemas.microsoft.com/office/powerpoint/2010/main" val="2645760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4E318-D304-6B13-B935-3E9DF07AB1ED}"/>
              </a:ext>
            </a:extLst>
          </p:cNvPr>
          <p:cNvSpPr>
            <a:spLocks noGrp="1"/>
          </p:cNvSpPr>
          <p:nvPr>
            <p:ph type="title"/>
          </p:nvPr>
        </p:nvSpPr>
        <p:spPr>
          <a:xfrm>
            <a:off x="102139" y="107258"/>
            <a:ext cx="10515600" cy="544495"/>
          </a:xfrm>
        </p:spPr>
        <p:txBody>
          <a:bodyPr>
            <a:normAutofit/>
          </a:bodyPr>
          <a:lstStyle/>
          <a:p>
            <a:r>
              <a:rPr lang="en-US" sz="3200" b="1" dirty="0"/>
              <a:t> Web Scraping – Details</a:t>
            </a:r>
            <a:endParaRPr lang="en-IN" sz="3200" dirty="0"/>
          </a:p>
        </p:txBody>
      </p:sp>
      <p:sp>
        <p:nvSpPr>
          <p:cNvPr id="3" name="Text Placeholder 2">
            <a:extLst>
              <a:ext uri="{FF2B5EF4-FFF2-40B4-BE49-F238E27FC236}">
                <a16:creationId xmlns:a16="http://schemas.microsoft.com/office/drawing/2014/main" id="{B25648D9-2994-5DB4-EAD1-0F9A6CA3DB9F}"/>
              </a:ext>
            </a:extLst>
          </p:cNvPr>
          <p:cNvSpPr>
            <a:spLocks noGrp="1"/>
          </p:cNvSpPr>
          <p:nvPr>
            <p:ph type="body" idx="4294967295"/>
          </p:nvPr>
        </p:nvSpPr>
        <p:spPr>
          <a:xfrm>
            <a:off x="204280" y="787940"/>
            <a:ext cx="10311319" cy="4873558"/>
          </a:xfrm>
        </p:spPr>
        <p:txBody>
          <a:bodyPr>
            <a:normAutofit fontScale="85000" lnSpcReduction="10000"/>
          </a:bodyPr>
          <a:lstStyle/>
          <a:p>
            <a:pPr marL="50800" indent="0">
              <a:buNone/>
            </a:pPr>
            <a:r>
              <a:rPr lang="en-US" sz="1900" b="1" dirty="0"/>
              <a:t>Website(s) Scraped</a:t>
            </a:r>
            <a:r>
              <a:rPr lang="en-US" sz="1900" dirty="0"/>
              <a:t>:</a:t>
            </a:r>
          </a:p>
          <a:p>
            <a:pPr lvl="1"/>
            <a:r>
              <a:rPr lang="en-US" sz="1800" dirty="0"/>
              <a:t>Data is scraped from </a:t>
            </a:r>
            <a:r>
              <a:rPr lang="en-US" sz="1800" b="1" dirty="0"/>
              <a:t>Cars24</a:t>
            </a:r>
            <a:r>
              <a:rPr lang="en-US" sz="1800" dirty="0"/>
              <a:t> using URLs specific to different cities in India (e.g., Delhi, Mumbai, Hyderabad).</a:t>
            </a:r>
          </a:p>
          <a:p>
            <a:pPr lvl="1"/>
            <a:endParaRPr lang="en-US" sz="1800" dirty="0"/>
          </a:p>
          <a:p>
            <a:pPr lvl="1"/>
            <a:r>
              <a:rPr lang="en-US" sz="1800" dirty="0"/>
              <a:t>URL  :-  </a:t>
            </a:r>
            <a:r>
              <a:rPr lang="en-US" sz="1800" dirty="0">
                <a:hlinkClick r:id="rId2"/>
              </a:rPr>
              <a:t>https://www.cars24.com/buy-used-cars-delhi-ncr/?sort=bestmatch&amp;serveWarrantyCount=true&amp;storeCityId=1</a:t>
            </a:r>
            <a:endParaRPr lang="en-US" sz="1800" dirty="0"/>
          </a:p>
          <a:p>
            <a:pPr lvl="1"/>
            <a:endParaRPr lang="en-US" sz="1800" dirty="0"/>
          </a:p>
          <a:p>
            <a:pPr marL="50800" indent="0">
              <a:buNone/>
            </a:pPr>
            <a:endParaRPr lang="en-US" sz="1800" b="1" dirty="0"/>
          </a:p>
          <a:p>
            <a:pPr marL="50800" indent="0">
              <a:buNone/>
            </a:pPr>
            <a:r>
              <a:rPr lang="en-US" sz="1800" b="1" dirty="0"/>
              <a:t>Processor Followed</a:t>
            </a:r>
            <a:r>
              <a:rPr lang="en-US" sz="1800" dirty="0"/>
              <a:t>:</a:t>
            </a:r>
          </a:p>
          <a:p>
            <a:endParaRPr lang="en-US" sz="1800" dirty="0"/>
          </a:p>
          <a:p>
            <a:pPr lvl="1"/>
            <a:r>
              <a:rPr lang="en-US" sz="1800" b="1" dirty="0"/>
              <a:t>URL Generation</a:t>
            </a:r>
            <a:r>
              <a:rPr lang="en-US" sz="1800" dirty="0"/>
              <a:t>: URLs are dynamically created for each city and filtered based on car owner type.</a:t>
            </a:r>
          </a:p>
          <a:p>
            <a:pPr lvl="1"/>
            <a:endParaRPr lang="en-US" sz="1800" dirty="0"/>
          </a:p>
          <a:p>
            <a:pPr lvl="1"/>
            <a:r>
              <a:rPr lang="en-US" sz="1800" b="1" dirty="0"/>
              <a:t>HTML Parsing</a:t>
            </a:r>
            <a:r>
              <a:rPr lang="en-US" sz="1800" dirty="0"/>
              <a:t>: Used BeautifulSoup to parse HTML and extract relevant details.</a:t>
            </a:r>
          </a:p>
          <a:p>
            <a:pPr lvl="1"/>
            <a:endParaRPr lang="en-US" sz="1800" dirty="0"/>
          </a:p>
          <a:p>
            <a:pPr lvl="1"/>
            <a:r>
              <a:rPr lang="en-US" sz="1800" b="1" dirty="0"/>
              <a:t>Data Extraction</a:t>
            </a:r>
            <a:r>
              <a:rPr lang="en-US" sz="1800" dirty="0"/>
              <a:t>: Extracted details like car model, brand, year, price, fuel type, mileage, etc.</a:t>
            </a:r>
          </a:p>
          <a:p>
            <a:pPr lvl="1"/>
            <a:endParaRPr lang="en-US" sz="1800" dirty="0"/>
          </a:p>
          <a:p>
            <a:pPr lvl="1"/>
            <a:r>
              <a:rPr lang="en-US" sz="1800" b="1" dirty="0"/>
              <a:t>Data Clean-Up</a:t>
            </a:r>
            <a:r>
              <a:rPr lang="en-US" sz="1800" dirty="0"/>
              <a:t>: Applied regular expressions and manual checks to ensure data accuracy.</a:t>
            </a:r>
          </a:p>
          <a:p>
            <a:pPr marL="114300" indent="0">
              <a:buNone/>
            </a:pPr>
            <a:br>
              <a:rPr lang="en-US" sz="1800" dirty="0"/>
            </a:br>
            <a:endParaRPr lang="en-IN" sz="1800" dirty="0"/>
          </a:p>
        </p:txBody>
      </p:sp>
    </p:spTree>
    <p:extLst>
      <p:ext uri="{BB962C8B-B14F-4D97-AF65-F5344CB8AC3E}">
        <p14:creationId xmlns:p14="http://schemas.microsoft.com/office/powerpoint/2010/main" val="258857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06A21-F8CB-4860-1E80-330019D7FC09}"/>
              </a:ext>
            </a:extLst>
          </p:cNvPr>
          <p:cNvSpPr>
            <a:spLocks noGrp="1"/>
          </p:cNvSpPr>
          <p:nvPr>
            <p:ph type="title"/>
          </p:nvPr>
        </p:nvSpPr>
        <p:spPr>
          <a:xfrm>
            <a:off x="303179" y="365124"/>
            <a:ext cx="4510548" cy="932733"/>
          </a:xfrm>
        </p:spPr>
        <p:txBody>
          <a:bodyPr>
            <a:normAutofit fontScale="90000"/>
          </a:bodyPr>
          <a:lstStyle/>
          <a:p>
            <a:r>
              <a:rPr lang="en-US" sz="3200" b="1" dirty="0"/>
              <a:t>Summary of the Data</a:t>
            </a:r>
            <a:br>
              <a:rPr lang="en-US" sz="3200" dirty="0"/>
            </a:br>
            <a:endParaRPr lang="en-IN" sz="3200" dirty="0"/>
          </a:p>
        </p:txBody>
      </p:sp>
      <p:sp>
        <p:nvSpPr>
          <p:cNvPr id="3" name="Text Placeholder 2">
            <a:extLst>
              <a:ext uri="{FF2B5EF4-FFF2-40B4-BE49-F238E27FC236}">
                <a16:creationId xmlns:a16="http://schemas.microsoft.com/office/drawing/2014/main" id="{941625EB-1094-73AE-B725-09B48F06EDF7}"/>
              </a:ext>
            </a:extLst>
          </p:cNvPr>
          <p:cNvSpPr>
            <a:spLocks noGrp="1"/>
          </p:cNvSpPr>
          <p:nvPr>
            <p:ph type="body" idx="1"/>
          </p:nvPr>
        </p:nvSpPr>
        <p:spPr>
          <a:xfrm>
            <a:off x="81023" y="1297857"/>
            <a:ext cx="3969834" cy="5018048"/>
          </a:xfrm>
          <a:solidFill>
            <a:schemeClr val="bg1"/>
          </a:solidFill>
        </p:spPr>
        <p:txBody>
          <a:bodyPr>
            <a:normAutofit fontScale="32500" lnSpcReduction="20000"/>
          </a:bodyPr>
          <a:lstStyle/>
          <a:p>
            <a:r>
              <a:rPr lang="en-US" sz="3800" b="1" dirty="0"/>
              <a:t>Overview of Columns:</a:t>
            </a:r>
          </a:p>
          <a:p>
            <a:endParaRPr lang="en-US" sz="3800" b="1" dirty="0"/>
          </a:p>
          <a:p>
            <a:pPr lvl="1"/>
            <a:r>
              <a:rPr lang="en-US" sz="3400" b="1" dirty="0"/>
              <a:t>Brand</a:t>
            </a:r>
            <a:r>
              <a:rPr lang="en-US" sz="3400" dirty="0"/>
              <a:t>: Brand of the car (e.g., Toyota, Honda, etc.)</a:t>
            </a:r>
          </a:p>
          <a:p>
            <a:pPr lvl="1"/>
            <a:endParaRPr lang="en-US" sz="4000" dirty="0"/>
          </a:p>
          <a:p>
            <a:pPr lvl="1"/>
            <a:r>
              <a:rPr lang="en-US" sz="3400" b="1" dirty="0"/>
              <a:t>Car Model</a:t>
            </a:r>
            <a:r>
              <a:rPr lang="en-US" sz="3400" dirty="0"/>
              <a:t>: Specific model of the car.</a:t>
            </a:r>
          </a:p>
          <a:p>
            <a:pPr lvl="1"/>
            <a:endParaRPr lang="en-US" sz="4000" dirty="0"/>
          </a:p>
          <a:p>
            <a:pPr lvl="1"/>
            <a:r>
              <a:rPr lang="en-US" sz="3400" b="1" dirty="0"/>
              <a:t>Year</a:t>
            </a:r>
            <a:r>
              <a:rPr lang="en-US" sz="3400" dirty="0"/>
              <a:t>: Manufacturing year of the car.</a:t>
            </a:r>
          </a:p>
          <a:p>
            <a:pPr lvl="1"/>
            <a:endParaRPr lang="en-US" sz="3400" dirty="0"/>
          </a:p>
          <a:p>
            <a:pPr lvl="1"/>
            <a:r>
              <a:rPr lang="en-US" sz="3400" b="1" dirty="0"/>
              <a:t>Driven_Km</a:t>
            </a:r>
            <a:r>
              <a:rPr lang="en-US" sz="3400" dirty="0"/>
              <a:t>: Total kilometers driven by the car.</a:t>
            </a:r>
          </a:p>
          <a:p>
            <a:pPr lvl="1"/>
            <a:endParaRPr lang="en-US" sz="3400" dirty="0"/>
          </a:p>
          <a:p>
            <a:pPr lvl="1"/>
            <a:r>
              <a:rPr lang="en-US" sz="3400" b="1" dirty="0"/>
              <a:t>Fuel</a:t>
            </a:r>
            <a:r>
              <a:rPr lang="en-US" sz="3400" dirty="0"/>
              <a:t>: Fuel type (Petrol, Diesel, Electric, etc.)</a:t>
            </a:r>
          </a:p>
          <a:p>
            <a:pPr lvl="1"/>
            <a:endParaRPr lang="en-US" sz="3400" dirty="0"/>
          </a:p>
          <a:p>
            <a:pPr lvl="1"/>
            <a:r>
              <a:rPr lang="en-US" sz="3400" b="1" dirty="0"/>
              <a:t>Transmission</a:t>
            </a:r>
            <a:r>
              <a:rPr lang="en-US" sz="3400" dirty="0"/>
              <a:t>: Type of transmission (Manual, Automatic, etc.)</a:t>
            </a:r>
          </a:p>
          <a:p>
            <a:pPr lvl="1"/>
            <a:endParaRPr lang="en-US" sz="3400" dirty="0"/>
          </a:p>
          <a:p>
            <a:pPr lvl="1"/>
            <a:r>
              <a:rPr lang="en-US" sz="3400" b="1" dirty="0"/>
              <a:t>Price</a:t>
            </a:r>
            <a:r>
              <a:rPr lang="en-US" sz="3400" dirty="0"/>
              <a:t>: Price of the car (in INR).</a:t>
            </a:r>
          </a:p>
          <a:p>
            <a:pPr lvl="1"/>
            <a:endParaRPr lang="en-US" sz="3400" dirty="0"/>
          </a:p>
          <a:p>
            <a:pPr lvl="1"/>
            <a:r>
              <a:rPr lang="en-US" sz="3400" b="1" dirty="0"/>
              <a:t>Location</a:t>
            </a:r>
            <a:r>
              <a:rPr lang="en-US" sz="3400" dirty="0"/>
              <a:t>: City where the car is located.</a:t>
            </a:r>
          </a:p>
          <a:p>
            <a:pPr lvl="1"/>
            <a:endParaRPr lang="en-US" sz="3400" dirty="0"/>
          </a:p>
          <a:p>
            <a:pPr lvl="1"/>
            <a:r>
              <a:rPr lang="en-US" sz="3400" b="1" dirty="0"/>
              <a:t>Owner Type</a:t>
            </a:r>
            <a:r>
              <a:rPr lang="en-US" sz="3400" dirty="0"/>
              <a:t>: Whether the car is first-owner (binary flag).</a:t>
            </a:r>
          </a:p>
          <a:p>
            <a:pPr lvl="1"/>
            <a:endParaRPr lang="en-US" sz="4000" dirty="0"/>
          </a:p>
        </p:txBody>
      </p:sp>
      <p:pic>
        <p:nvPicPr>
          <p:cNvPr id="5" name="Picture 4">
            <a:extLst>
              <a:ext uri="{FF2B5EF4-FFF2-40B4-BE49-F238E27FC236}">
                <a16:creationId xmlns:a16="http://schemas.microsoft.com/office/drawing/2014/main" id="{F94749C8-02B7-B3FF-3DDD-6FD661EFB796}"/>
              </a:ext>
            </a:extLst>
          </p:cNvPr>
          <p:cNvPicPr>
            <a:picLocks noChangeAspect="1"/>
          </p:cNvPicPr>
          <p:nvPr/>
        </p:nvPicPr>
        <p:blipFill>
          <a:blip r:embed="rId2"/>
          <a:stretch>
            <a:fillRect/>
          </a:stretch>
        </p:blipFill>
        <p:spPr>
          <a:xfrm>
            <a:off x="4273013" y="1297857"/>
            <a:ext cx="7279345" cy="4504438"/>
          </a:xfrm>
          <a:prstGeom prst="rect">
            <a:avLst/>
          </a:prstGeom>
        </p:spPr>
      </p:pic>
      <p:sp>
        <p:nvSpPr>
          <p:cNvPr id="7" name="TextBox 6">
            <a:extLst>
              <a:ext uri="{FF2B5EF4-FFF2-40B4-BE49-F238E27FC236}">
                <a16:creationId xmlns:a16="http://schemas.microsoft.com/office/drawing/2014/main" id="{42EF6889-E0E3-F526-86C6-880F9FBD742B}"/>
              </a:ext>
            </a:extLst>
          </p:cNvPr>
          <p:cNvSpPr txBox="1"/>
          <p:nvPr/>
        </p:nvSpPr>
        <p:spPr>
          <a:xfrm>
            <a:off x="5477344" y="365124"/>
            <a:ext cx="1771639" cy="338554"/>
          </a:xfrm>
          <a:prstGeom prst="rect">
            <a:avLst/>
          </a:prstGeom>
          <a:noFill/>
        </p:spPr>
        <p:txBody>
          <a:bodyPr wrap="none" rtlCol="0">
            <a:spAutoFit/>
          </a:bodyPr>
          <a:lstStyle/>
          <a:p>
            <a:r>
              <a:rPr lang="en-IN" sz="1600" b="1" dirty="0"/>
              <a:t>Sample Of Data:</a:t>
            </a:r>
          </a:p>
        </p:txBody>
      </p:sp>
    </p:spTree>
    <p:extLst>
      <p:ext uri="{BB962C8B-B14F-4D97-AF65-F5344CB8AC3E}">
        <p14:creationId xmlns:p14="http://schemas.microsoft.com/office/powerpoint/2010/main" val="196120206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childTnLst>
                    </p:cTn>
                  </p:par>
                </p:childTnLst>
              </p:cTn>
              <p:nextCondLst>
                <p:cond evt="onClick" delay="0">
                  <p:tgtEl>
                    <p:spTgt spid="7"/>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42B218-12FB-8851-CAC7-FFF2D248F651}"/>
              </a:ext>
            </a:extLst>
          </p:cNvPr>
          <p:cNvSpPr txBox="1"/>
          <p:nvPr/>
        </p:nvSpPr>
        <p:spPr>
          <a:xfrm>
            <a:off x="150470" y="152462"/>
            <a:ext cx="12041530" cy="6553076"/>
          </a:xfrm>
          <a:prstGeom prst="rect">
            <a:avLst/>
          </a:prstGeom>
          <a:noFill/>
        </p:spPr>
        <p:txBody>
          <a:bodyPr wrap="square">
            <a:spAutoFit/>
          </a:bodyPr>
          <a:lstStyle/>
          <a:p>
            <a:pPr algn="l">
              <a:spcBef>
                <a:spcPts val="1814"/>
              </a:spcBef>
              <a:spcAft>
                <a:spcPts val="1210"/>
              </a:spcAft>
              <a:buNone/>
            </a:pPr>
            <a:r>
              <a:rPr lang="en-US" sz="2800" b="1" i="0" dirty="0">
                <a:effectLst/>
                <a:latin typeface="Calibri" panose="020F0502020204030204" pitchFamily="34" charset="0"/>
                <a:ea typeface="Calibri" panose="020F0502020204030204" pitchFamily="34" charset="0"/>
                <a:cs typeface="Calibri" panose="020F0502020204030204" pitchFamily="34" charset="0"/>
              </a:rPr>
              <a:t>Exploratory Data Analysis (EDA)</a:t>
            </a:r>
          </a:p>
          <a:p>
            <a:pPr algn="l">
              <a:spcBef>
                <a:spcPts val="1814"/>
              </a:spcBef>
              <a:spcAft>
                <a:spcPts val="1210"/>
              </a:spcAft>
              <a:buNone/>
            </a:pPr>
            <a:r>
              <a:rPr lang="en-US" sz="2000" b="1" i="0" dirty="0">
                <a:effectLst/>
                <a:latin typeface="Calibri" panose="020F0502020204030204" pitchFamily="34" charset="0"/>
                <a:ea typeface="Calibri" panose="020F0502020204030204" pitchFamily="34" charset="0"/>
                <a:cs typeface="Calibri" panose="020F0502020204030204" pitchFamily="34" charset="0"/>
              </a:rPr>
              <a:t>Data Cleaning Steps</a:t>
            </a:r>
            <a:endParaRPr lang="en-US" sz="2000"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 Missing Values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algn="l"/>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0" i="0" dirty="0">
                <a:effectLst/>
                <a:latin typeface="Calibri" panose="020F0502020204030204" pitchFamily="34" charset="0"/>
                <a:ea typeface="Calibri" panose="020F0502020204030204" pitchFamily="34" charset="0"/>
                <a:cs typeface="Calibri" panose="020F0502020204030204" pitchFamily="34" charset="0"/>
              </a:rPr>
              <a:t>Identified and handled missing values in the dataset, particularly for driven kilometers.</a:t>
            </a:r>
          </a:p>
          <a:p>
            <a:pPr algn="l"/>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Outliers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algn="l"/>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0" i="0" dirty="0">
                <a:effectLst/>
                <a:latin typeface="Calibri" panose="020F0502020204030204" pitchFamily="34" charset="0"/>
                <a:ea typeface="Calibri" panose="020F0502020204030204" pitchFamily="34" charset="0"/>
                <a:cs typeface="Calibri" panose="020F0502020204030204" pitchFamily="34" charset="0"/>
              </a:rPr>
              <a:t>Detected outliers in prices (e.g., very high-priced cars) and corrected where necessary.</a:t>
            </a:r>
          </a:p>
          <a:p>
            <a:pPr algn="l"/>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algn="l"/>
            <a:r>
              <a:rPr lang="en-US" sz="1600" b="1" i="0" dirty="0">
                <a:effectLst/>
                <a:latin typeface="Calibri" panose="020F0502020204030204" pitchFamily="34" charset="0"/>
                <a:ea typeface="Calibri" panose="020F0502020204030204" pitchFamily="34" charset="0"/>
                <a:cs typeface="Calibri" panose="020F0502020204030204" pitchFamily="34" charset="0"/>
              </a:rPr>
              <a:t>  Data Types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Converted columns like price and mileage to appropriate numerical types for analysis</a:t>
            </a:r>
            <a:r>
              <a:rPr lang="en-US" sz="16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US" dirty="0"/>
              <a:t>Converted string-based numbers (with commas) to numeric types.</a:t>
            </a:r>
          </a:p>
          <a:p>
            <a:pPr marL="285750" indent="-285750">
              <a:buFont typeface="Arial" panose="020B0604020202020204" pitchFamily="34" charset="0"/>
              <a:buChar char="•"/>
            </a:pPr>
            <a:endParaRPr lang="en-US" dirty="0"/>
          </a:p>
          <a:p>
            <a:pPr algn="l"/>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1" i="0" dirty="0">
                <a:effectLst/>
                <a:latin typeface="Calibri" panose="020F0502020204030204" pitchFamily="34" charset="0"/>
                <a:ea typeface="Calibri" panose="020F0502020204030204" pitchFamily="34" charset="0"/>
                <a:cs typeface="Calibri" panose="020F0502020204030204" pitchFamily="34" charset="0"/>
              </a:rPr>
              <a:t>Statistical imputations:</a:t>
            </a:r>
          </a:p>
          <a:p>
            <a:pPr marL="457200" lvl="1" algn="l"/>
            <a:r>
              <a:rPr lang="en-US" sz="1600" b="1" i="0" dirty="0">
                <a:effectLst/>
                <a:latin typeface="Calibri" panose="020F0502020204030204" pitchFamily="34" charset="0"/>
                <a:ea typeface="Calibri" panose="020F0502020204030204" pitchFamily="34" charset="0"/>
                <a:cs typeface="Calibri" panose="020F0502020204030204" pitchFamily="34" charset="0"/>
              </a:rPr>
              <a:t>Mean</a:t>
            </a:r>
            <a:r>
              <a:rPr lang="en-US" sz="1600" b="0" i="0" dirty="0">
                <a:effectLst/>
                <a:latin typeface="Calibri" panose="020F0502020204030204" pitchFamily="34" charset="0"/>
                <a:ea typeface="Calibri" panose="020F0502020204030204" pitchFamily="34" charset="0"/>
                <a:cs typeface="Calibri" panose="020F0502020204030204" pitchFamily="34" charset="0"/>
              </a:rPr>
              <a:t> for continuous variables like Driven_Km</a:t>
            </a:r>
          </a:p>
          <a:p>
            <a:pPr algn="l">
              <a:spcBef>
                <a:spcPts val="1512"/>
              </a:spcBef>
              <a:spcAft>
                <a:spcPts val="1008"/>
              </a:spcAft>
              <a:buNone/>
            </a:pPr>
            <a:r>
              <a:rPr lang="en-US" sz="2000" b="1" i="0" dirty="0">
                <a:effectLst/>
                <a:latin typeface="Calibri" panose="020F0502020204030204" pitchFamily="34" charset="0"/>
                <a:ea typeface="Calibri" panose="020F0502020204030204" pitchFamily="34" charset="0"/>
                <a:cs typeface="Calibri" panose="020F0502020204030204" pitchFamily="34" charset="0"/>
              </a:rPr>
              <a:t>Data Manipulation Steps       </a:t>
            </a:r>
            <a:endParaRPr lang="en-US" sz="2000"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Feature Engineering</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Converted the price units (Crore/lakh) to a unified scale (INR).</a:t>
            </a:r>
          </a:p>
          <a:p>
            <a:pPr marL="742950" lvl="1" indent="-285750" algn="l">
              <a:buFont typeface="Arial" panose="020B0604020202020204" pitchFamily="34" charset="0"/>
              <a:buChar char="•"/>
            </a:pPr>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City Mapping</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Mapped city names to their respective locations for easier analysis.</a:t>
            </a:r>
          </a:p>
          <a:p>
            <a:pPr>
              <a:buNone/>
            </a:pPr>
            <a:br>
              <a:rPr lang="en-US"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96001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B0732E-D69D-C5B0-87BF-7DE75896C0AF}"/>
              </a:ext>
            </a:extLst>
          </p:cNvPr>
          <p:cNvSpPr txBox="1"/>
          <p:nvPr/>
        </p:nvSpPr>
        <p:spPr>
          <a:xfrm>
            <a:off x="98324" y="344129"/>
            <a:ext cx="6614204" cy="5201424"/>
          </a:xfrm>
          <a:prstGeom prst="rect">
            <a:avLst/>
          </a:prstGeom>
          <a:noFill/>
        </p:spPr>
        <p:txBody>
          <a:bodyPr wrap="square">
            <a:spAutoFit/>
          </a:bodyPr>
          <a:lstStyle/>
          <a:p>
            <a:pPr algn="l">
              <a:spcBef>
                <a:spcPts val="1814"/>
              </a:spcBef>
              <a:spcAft>
                <a:spcPts val="1210"/>
              </a:spcAft>
              <a:buNone/>
            </a:pPr>
            <a:r>
              <a:rPr lang="en-US" sz="2400" b="1" i="0" dirty="0">
                <a:effectLst/>
                <a:latin typeface="Calibri" panose="020F0502020204030204" pitchFamily="34" charset="0"/>
                <a:ea typeface="Calibri" panose="020F0502020204030204" pitchFamily="34" charset="0"/>
                <a:cs typeface="Calibri" panose="020F0502020204030204" pitchFamily="34" charset="0"/>
              </a:rPr>
              <a:t>Univariate Analysis</a:t>
            </a:r>
            <a:endParaRPr lang="en-US" sz="2400"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Price Distribution</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Display the distribution of car prices using histograms .</a:t>
            </a: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algn="l"/>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7BD17C8-C418-8215-2C29-0B62B32BF6A6}"/>
              </a:ext>
            </a:extLst>
          </p:cNvPr>
          <p:cNvPicPr>
            <a:picLocks noChangeAspect="1"/>
          </p:cNvPicPr>
          <p:nvPr/>
        </p:nvPicPr>
        <p:blipFill>
          <a:blip r:embed="rId2">
            <a:extLst>
              <a:ext uri="{28A0092B-C50C-407E-A947-70E740481C1C}">
                <a14:useLocalDpi xmlns:a14="http://schemas.microsoft.com/office/drawing/2010/main" val="0"/>
              </a:ext>
            </a:extLst>
          </a:blip>
          <a:srcRect r="15512"/>
          <a:stretch>
            <a:fillRect/>
          </a:stretch>
        </p:blipFill>
        <p:spPr>
          <a:xfrm>
            <a:off x="181451" y="1509874"/>
            <a:ext cx="4754232" cy="3575078"/>
          </a:xfrm>
          <a:prstGeom prst="rect">
            <a:avLst/>
          </a:prstGeom>
        </p:spPr>
      </p:pic>
      <p:sp>
        <p:nvSpPr>
          <p:cNvPr id="5" name="TextBox 4">
            <a:extLst>
              <a:ext uri="{FF2B5EF4-FFF2-40B4-BE49-F238E27FC236}">
                <a16:creationId xmlns:a16="http://schemas.microsoft.com/office/drawing/2014/main" id="{226C69B1-75AB-2588-990E-EE3635C2AD14}"/>
              </a:ext>
            </a:extLst>
          </p:cNvPr>
          <p:cNvSpPr txBox="1"/>
          <p:nvPr/>
        </p:nvSpPr>
        <p:spPr>
          <a:xfrm>
            <a:off x="340532" y="5348126"/>
            <a:ext cx="4879649" cy="954107"/>
          </a:xfrm>
          <a:prstGeom prst="rect">
            <a:avLst/>
          </a:prstGeom>
          <a:noFill/>
        </p:spPr>
        <p:txBody>
          <a:bodyPr wrap="square" rtlCol="0">
            <a:spAutoFit/>
          </a:bodyPr>
          <a:lstStyle/>
          <a:p>
            <a:pPr marL="285750" indent="-285750">
              <a:buFont typeface="Arial" panose="020B0604020202020204" pitchFamily="34" charset="0"/>
              <a:buChar char="•"/>
            </a:pPr>
            <a:r>
              <a:rPr lang="en-US" dirty="0"/>
              <a:t>It shows majority of used cars are priced below 10 lakhs ,while a small portion falls with the ₹10-15lakh range and high priced vehicles are relatively rare in the dataset.</a:t>
            </a:r>
            <a:endParaRPr lang="en-IN" dirty="0"/>
          </a:p>
        </p:txBody>
      </p:sp>
      <p:pic>
        <p:nvPicPr>
          <p:cNvPr id="7" name="Picture 6">
            <a:extLst>
              <a:ext uri="{FF2B5EF4-FFF2-40B4-BE49-F238E27FC236}">
                <a16:creationId xmlns:a16="http://schemas.microsoft.com/office/drawing/2014/main" id="{D169B783-017E-F9A7-CB25-F5AA16F3A741}"/>
              </a:ext>
            </a:extLst>
          </p:cNvPr>
          <p:cNvPicPr>
            <a:picLocks noChangeAspect="1"/>
          </p:cNvPicPr>
          <p:nvPr/>
        </p:nvPicPr>
        <p:blipFill>
          <a:blip r:embed="rId3"/>
          <a:stretch>
            <a:fillRect/>
          </a:stretch>
        </p:blipFill>
        <p:spPr>
          <a:xfrm>
            <a:off x="6712528" y="1364714"/>
            <a:ext cx="4798108" cy="3827472"/>
          </a:xfrm>
          <a:prstGeom prst="rect">
            <a:avLst/>
          </a:prstGeom>
        </p:spPr>
      </p:pic>
      <p:sp>
        <p:nvSpPr>
          <p:cNvPr id="9" name="TextBox 8">
            <a:extLst>
              <a:ext uri="{FF2B5EF4-FFF2-40B4-BE49-F238E27FC236}">
                <a16:creationId xmlns:a16="http://schemas.microsoft.com/office/drawing/2014/main" id="{CCD963BA-D831-95DB-3E02-51ADF59BD52E}"/>
              </a:ext>
            </a:extLst>
          </p:cNvPr>
          <p:cNvSpPr txBox="1"/>
          <p:nvPr/>
        </p:nvSpPr>
        <p:spPr>
          <a:xfrm>
            <a:off x="6954736" y="5366639"/>
            <a:ext cx="4798108" cy="523220"/>
          </a:xfrm>
          <a:prstGeom prst="rect">
            <a:avLst/>
          </a:prstGeom>
          <a:noFill/>
        </p:spPr>
        <p:txBody>
          <a:bodyPr wrap="none" rtlCol="0">
            <a:spAutoFit/>
          </a:bodyPr>
          <a:lstStyle/>
          <a:p>
            <a:r>
              <a:rPr lang="en-IN" dirty="0"/>
              <a:t>In the Bar chart shows the manual cars are more than the </a:t>
            </a:r>
          </a:p>
          <a:p>
            <a:r>
              <a:rPr lang="en-IN" dirty="0"/>
              <a:t>Automatic cars.</a:t>
            </a:r>
          </a:p>
        </p:txBody>
      </p:sp>
      <p:sp>
        <p:nvSpPr>
          <p:cNvPr id="11" name="TextBox 10">
            <a:extLst>
              <a:ext uri="{FF2B5EF4-FFF2-40B4-BE49-F238E27FC236}">
                <a16:creationId xmlns:a16="http://schemas.microsoft.com/office/drawing/2014/main" id="{7375A093-AFE6-F7A7-595C-25059F916F5F}"/>
              </a:ext>
            </a:extLst>
          </p:cNvPr>
          <p:cNvSpPr txBox="1"/>
          <p:nvPr/>
        </p:nvSpPr>
        <p:spPr>
          <a:xfrm>
            <a:off x="7101840" y="1026160"/>
            <a:ext cx="2204450" cy="338554"/>
          </a:xfrm>
          <a:prstGeom prst="rect">
            <a:avLst/>
          </a:prstGeom>
          <a:noFill/>
        </p:spPr>
        <p:txBody>
          <a:bodyPr wrap="none" rtlCol="0">
            <a:spAutoFit/>
          </a:bodyPr>
          <a:lstStyle/>
          <a:p>
            <a:pPr marL="285750" indent="-285750">
              <a:buFont typeface="Arial" panose="020B0604020202020204" pitchFamily="34" charset="0"/>
              <a:buChar char="•"/>
            </a:pPr>
            <a:r>
              <a:rPr lang="en-IN" sz="1600" b="1" dirty="0">
                <a:latin typeface="Calibri" panose="020F0502020204030204" pitchFamily="34" charset="0"/>
                <a:ea typeface="Calibri" panose="020F0502020204030204" pitchFamily="34" charset="0"/>
                <a:cs typeface="Calibri" panose="020F0502020204030204" pitchFamily="34" charset="0"/>
              </a:rPr>
              <a:t>Transmission of cars</a:t>
            </a:r>
          </a:p>
        </p:txBody>
      </p:sp>
    </p:spTree>
    <p:extLst>
      <p:ext uri="{BB962C8B-B14F-4D97-AF65-F5344CB8AC3E}">
        <p14:creationId xmlns:p14="http://schemas.microsoft.com/office/powerpoint/2010/main" val="586262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F741EE-8392-E6CF-09CC-026CD38FD0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09" y="1097963"/>
            <a:ext cx="7326903" cy="4703051"/>
          </a:xfrm>
          <a:prstGeom prst="rect">
            <a:avLst/>
          </a:prstGeom>
        </p:spPr>
      </p:pic>
      <p:sp>
        <p:nvSpPr>
          <p:cNvPr id="2" name="TextBox 1">
            <a:extLst>
              <a:ext uri="{FF2B5EF4-FFF2-40B4-BE49-F238E27FC236}">
                <a16:creationId xmlns:a16="http://schemas.microsoft.com/office/drawing/2014/main" id="{BE9409FC-31CF-9B20-3E3F-2B483DDFA136}"/>
              </a:ext>
            </a:extLst>
          </p:cNvPr>
          <p:cNvSpPr txBox="1"/>
          <p:nvPr/>
        </p:nvSpPr>
        <p:spPr>
          <a:xfrm>
            <a:off x="7509754" y="894944"/>
            <a:ext cx="4406629"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In the Bar chart indicated that most of used cars were manufactured between 2017 and 2022.</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highest concentration of listings is observed for years 2017,2019 and 2022 .</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 which implies new models dominated the used car market, reflecting customer demand for relatively recent vehicles</a:t>
            </a:r>
            <a:r>
              <a:rPr lang="en-US" dirty="0"/>
              <a:t>.</a:t>
            </a:r>
            <a:endParaRPr lang="en-IN" dirty="0"/>
          </a:p>
        </p:txBody>
      </p:sp>
      <p:sp>
        <p:nvSpPr>
          <p:cNvPr id="4" name="TextBox 3">
            <a:extLst>
              <a:ext uri="{FF2B5EF4-FFF2-40B4-BE49-F238E27FC236}">
                <a16:creationId xmlns:a16="http://schemas.microsoft.com/office/drawing/2014/main" id="{AD215DE7-E035-8B1A-FA84-3572F933DC99}"/>
              </a:ext>
            </a:extLst>
          </p:cNvPr>
          <p:cNvSpPr txBox="1"/>
          <p:nvPr/>
        </p:nvSpPr>
        <p:spPr>
          <a:xfrm>
            <a:off x="332509" y="249382"/>
            <a:ext cx="3065318" cy="338554"/>
          </a:xfrm>
          <a:prstGeom prst="rect">
            <a:avLst/>
          </a:prstGeom>
          <a:noFill/>
        </p:spPr>
        <p:txBody>
          <a:bodyPr wrap="square" rtlCol="0">
            <a:spAutoFit/>
          </a:bodyPr>
          <a:lstStyle/>
          <a:p>
            <a:r>
              <a:rPr lang="en-IN" sz="1600" b="1" dirty="0"/>
              <a:t>Year of Manufacture</a:t>
            </a:r>
            <a:r>
              <a:rPr lang="en-IN" sz="1600" dirty="0"/>
              <a:t>:</a:t>
            </a:r>
          </a:p>
        </p:txBody>
      </p:sp>
    </p:spTree>
    <p:extLst>
      <p:ext uri="{BB962C8B-B14F-4D97-AF65-F5344CB8AC3E}">
        <p14:creationId xmlns:p14="http://schemas.microsoft.com/office/powerpoint/2010/main" val="4080489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FC4240-3395-CD3D-127F-87477A37555B}"/>
              </a:ext>
            </a:extLst>
          </p:cNvPr>
          <p:cNvPicPr>
            <a:picLocks noChangeAspect="1"/>
          </p:cNvPicPr>
          <p:nvPr/>
        </p:nvPicPr>
        <p:blipFill>
          <a:blip r:embed="rId2">
            <a:extLst>
              <a:ext uri="{28A0092B-C50C-407E-A947-70E740481C1C}">
                <a14:useLocalDpi xmlns:a14="http://schemas.microsoft.com/office/drawing/2010/main" val="0"/>
              </a:ext>
            </a:extLst>
          </a:blip>
          <a:srcRect l="2697" r="3924" b="1344"/>
          <a:stretch>
            <a:fillRect/>
          </a:stretch>
        </p:blipFill>
        <p:spPr>
          <a:xfrm>
            <a:off x="0" y="0"/>
            <a:ext cx="9095362" cy="5710136"/>
          </a:xfrm>
          <a:prstGeom prst="rect">
            <a:avLst/>
          </a:prstGeom>
        </p:spPr>
      </p:pic>
      <p:sp>
        <p:nvSpPr>
          <p:cNvPr id="4" name="TextBox 3">
            <a:extLst>
              <a:ext uri="{FF2B5EF4-FFF2-40B4-BE49-F238E27FC236}">
                <a16:creationId xmlns:a16="http://schemas.microsoft.com/office/drawing/2014/main" id="{C3FBAF7F-1A0E-55F2-5673-F79AD63F6BE8}"/>
              </a:ext>
            </a:extLst>
          </p:cNvPr>
          <p:cNvSpPr txBox="1"/>
          <p:nvPr/>
        </p:nvSpPr>
        <p:spPr>
          <a:xfrm>
            <a:off x="9095362" y="318458"/>
            <a:ext cx="2957208" cy="452431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Bar chart indicates the most popular car Brands among used car listing.</a:t>
            </a:r>
          </a:p>
          <a:p>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sz="1600" dirty="0">
                <a:latin typeface="Calibri" panose="020F0502020204030204" pitchFamily="34" charset="0"/>
                <a:ea typeface="Calibri" panose="020F0502020204030204" pitchFamily="34" charset="0"/>
                <a:cs typeface="Calibri" panose="020F0502020204030204" pitchFamily="34" charset="0"/>
              </a:rPr>
              <a:t>• Maruti, Hyundai and Tata are the top three Brands ,showing the highest no. of used cars available.</a:t>
            </a:r>
          </a:p>
          <a:p>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sz="1600" dirty="0">
                <a:latin typeface="Calibri" panose="020F0502020204030204" pitchFamily="34" charset="0"/>
                <a:ea typeface="Calibri" panose="020F0502020204030204" pitchFamily="34" charset="0"/>
                <a:cs typeface="Calibri" panose="020F0502020204030204" pitchFamily="34" charset="0"/>
              </a:rPr>
              <a:t>• others commonly listed brands include Honda, Renault, Mahendra, and Volkswagen.</a:t>
            </a:r>
          </a:p>
          <a:p>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sz="1600" dirty="0">
                <a:latin typeface="Calibri" panose="020F0502020204030204" pitchFamily="34" charset="0"/>
                <a:ea typeface="Calibri" panose="020F0502020204030204" pitchFamily="34" charset="0"/>
                <a:cs typeface="Calibri" panose="020F0502020204030204" pitchFamily="34" charset="0"/>
              </a:rPr>
              <a:t>• Premium Brands such as Volvo, BYD, Lexus and Porsche appear in small portion.</a:t>
            </a:r>
          </a:p>
          <a:p>
            <a:br>
              <a:rPr lang="en-US" sz="1600" dirty="0">
                <a:latin typeface="Calibri" panose="020F0502020204030204" pitchFamily="34" charset="0"/>
                <a:ea typeface="Calibri" panose="020F0502020204030204" pitchFamily="34" charset="0"/>
                <a:cs typeface="Calibri" panose="020F0502020204030204" pitchFamily="34" charset="0"/>
              </a:rPr>
            </a:b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74167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765FB1-1B28-90B1-8F63-22C6B3948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122" y="309399"/>
            <a:ext cx="6938071" cy="5516213"/>
          </a:xfrm>
          <a:prstGeom prst="rect">
            <a:avLst/>
          </a:prstGeom>
        </p:spPr>
      </p:pic>
      <p:sp>
        <p:nvSpPr>
          <p:cNvPr id="5" name="TextBox 4">
            <a:extLst>
              <a:ext uri="{FF2B5EF4-FFF2-40B4-BE49-F238E27FC236}">
                <a16:creationId xmlns:a16="http://schemas.microsoft.com/office/drawing/2014/main" id="{0C2F59BB-3156-836F-2B5A-CD51757A44A5}"/>
              </a:ext>
            </a:extLst>
          </p:cNvPr>
          <p:cNvSpPr txBox="1"/>
          <p:nvPr/>
        </p:nvSpPr>
        <p:spPr>
          <a:xfrm>
            <a:off x="8121549" y="879237"/>
            <a:ext cx="3550597" cy="3539430"/>
          </a:xfrm>
          <a:prstGeom prst="rect">
            <a:avLst/>
          </a:prstGeom>
          <a:noFill/>
        </p:spPr>
        <p:txBody>
          <a:bodyPr wrap="square">
            <a:spAutoFit/>
          </a:bodyPr>
          <a:lstStyle/>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According to pie chat </a:t>
            </a:r>
          </a:p>
          <a:p>
            <a:r>
              <a:rPr lang="en-IN" sz="1600" dirty="0">
                <a:latin typeface="Calibri" panose="020F0502020204030204" pitchFamily="34" charset="0"/>
                <a:ea typeface="Calibri" panose="020F0502020204030204" pitchFamily="34" charset="0"/>
                <a:cs typeface="Calibri" panose="020F0502020204030204" pitchFamily="34" charset="0"/>
              </a:rPr>
              <a:t>Petrol cars are appoximately 75.7% of the total used cars available in the Cars24.</a:t>
            </a:r>
          </a:p>
          <a:p>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Diesel cars are 19.8% .</a:t>
            </a:r>
          </a:p>
          <a:p>
            <a:pPr marL="285750" indent="-285750">
              <a:buFont typeface="Arial" panose="020B0604020202020204" pitchFamily="34" charset="0"/>
              <a:buChar char="•"/>
            </a:pPr>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 while CNGAut, Electr, Hybrid and CNGMan vehicles a small fraction.</a:t>
            </a:r>
          </a:p>
          <a:p>
            <a:pPr marL="285750" indent="-285750">
              <a:buFont typeface="Arial" panose="020B0604020202020204" pitchFamily="34" charset="0"/>
              <a:buChar char="•"/>
            </a:pPr>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This shows that petrol vehicles remain the most popular choice among the Indian users, due to easy of maintenance.</a:t>
            </a:r>
          </a:p>
        </p:txBody>
      </p:sp>
    </p:spTree>
    <p:extLst>
      <p:ext uri="{BB962C8B-B14F-4D97-AF65-F5344CB8AC3E}">
        <p14:creationId xmlns:p14="http://schemas.microsoft.com/office/powerpoint/2010/main" val="967388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1F3E227-D678-C833-1FC8-4B05D192A0B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01913" y="1067486"/>
            <a:ext cx="5120640" cy="3992193"/>
          </a:xfrm>
          <a:prstGeom prst="rect">
            <a:avLst/>
          </a:prstGeom>
        </p:spPr>
      </p:pic>
      <p:pic>
        <p:nvPicPr>
          <p:cNvPr id="10" name="Picture 9">
            <a:extLst>
              <a:ext uri="{FF2B5EF4-FFF2-40B4-BE49-F238E27FC236}">
                <a16:creationId xmlns:a16="http://schemas.microsoft.com/office/drawing/2014/main" id="{0BDD7BB2-5168-B7E1-AB16-19B0F6443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080" y="928408"/>
            <a:ext cx="4958080" cy="4131271"/>
          </a:xfrm>
          <a:prstGeom prst="rect">
            <a:avLst/>
          </a:prstGeom>
        </p:spPr>
      </p:pic>
      <p:sp>
        <p:nvSpPr>
          <p:cNvPr id="5" name="TextBox 4">
            <a:extLst>
              <a:ext uri="{FF2B5EF4-FFF2-40B4-BE49-F238E27FC236}">
                <a16:creationId xmlns:a16="http://schemas.microsoft.com/office/drawing/2014/main" id="{A35936AF-C300-EB2B-6D85-F9185A382F94}"/>
              </a:ext>
            </a:extLst>
          </p:cNvPr>
          <p:cNvSpPr txBox="1"/>
          <p:nvPr/>
        </p:nvSpPr>
        <p:spPr>
          <a:xfrm>
            <a:off x="0" y="667376"/>
            <a:ext cx="1736373" cy="369332"/>
          </a:xfrm>
          <a:prstGeom prst="rect">
            <a:avLst/>
          </a:prstGeom>
          <a:noFill/>
        </p:spPr>
        <p:txBody>
          <a:bodyPr wrap="none" rtlCol="0">
            <a:spAutoFit/>
          </a:bodyPr>
          <a:lstStyle/>
          <a:p>
            <a:r>
              <a:rPr lang="en-IN" sz="1800" b="1" dirty="0"/>
              <a:t>Price Vs Year:</a:t>
            </a:r>
          </a:p>
        </p:txBody>
      </p:sp>
      <p:sp>
        <p:nvSpPr>
          <p:cNvPr id="6" name="TextBox 5">
            <a:extLst>
              <a:ext uri="{FF2B5EF4-FFF2-40B4-BE49-F238E27FC236}">
                <a16:creationId xmlns:a16="http://schemas.microsoft.com/office/drawing/2014/main" id="{314799D5-CA43-5CC0-50E8-646C8B2D1877}"/>
              </a:ext>
            </a:extLst>
          </p:cNvPr>
          <p:cNvSpPr txBox="1"/>
          <p:nvPr/>
        </p:nvSpPr>
        <p:spPr>
          <a:xfrm>
            <a:off x="401912" y="5313460"/>
            <a:ext cx="9209447" cy="116955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line plot shows in average between 2010 and 2024. Newer model years especially after 2018 shows higher average prices ,reflecting greater demand for recent cars with updated features.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    Older cars before 2014 generally have lower resale values, as expected due to wear and outdated models.</a:t>
            </a:r>
          </a:p>
          <a:p>
            <a:endParaRPr lang="en-IN" dirty="0"/>
          </a:p>
        </p:txBody>
      </p:sp>
      <p:sp>
        <p:nvSpPr>
          <p:cNvPr id="7" name="TextBox 6">
            <a:extLst>
              <a:ext uri="{FF2B5EF4-FFF2-40B4-BE49-F238E27FC236}">
                <a16:creationId xmlns:a16="http://schemas.microsoft.com/office/drawing/2014/main" id="{C8A98337-0681-2881-FFE2-D76AC9BCE591}"/>
              </a:ext>
            </a:extLst>
          </p:cNvPr>
          <p:cNvSpPr txBox="1"/>
          <p:nvPr/>
        </p:nvSpPr>
        <p:spPr>
          <a:xfrm>
            <a:off x="96187" y="113379"/>
            <a:ext cx="310421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814"/>
              </a:spcBef>
              <a:spcAft>
                <a:spcPts val="1210"/>
              </a:spcAft>
              <a:buClr>
                <a:srgbClr val="000000"/>
              </a:buClr>
              <a:buSzTx/>
              <a:buFont typeface="Arial"/>
              <a:buNone/>
              <a:tabLst/>
              <a:defRPr/>
            </a:pPr>
            <a:r>
              <a:rPr kumimoji="0" lang="en-US" sz="2400" b="1" i="0" u="sng"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Bivariate Analysis  :</a:t>
            </a:r>
            <a:endParaRPr kumimoji="0" lang="en-US" sz="2400" b="0" i="0" u="sng"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268627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2E7E28-0E3A-674A-64A5-ADA98DF946D5}"/>
              </a:ext>
            </a:extLst>
          </p:cNvPr>
          <p:cNvPicPr>
            <a:picLocks noChangeAspect="1"/>
          </p:cNvPicPr>
          <p:nvPr/>
        </p:nvPicPr>
        <p:blipFill>
          <a:blip r:embed="rId2"/>
          <a:stretch>
            <a:fillRect/>
          </a:stretch>
        </p:blipFill>
        <p:spPr>
          <a:xfrm>
            <a:off x="0" y="687162"/>
            <a:ext cx="6649378" cy="5296639"/>
          </a:xfrm>
          <a:prstGeom prst="rect">
            <a:avLst/>
          </a:prstGeom>
        </p:spPr>
      </p:pic>
      <p:sp>
        <p:nvSpPr>
          <p:cNvPr id="6" name="TextBox 5">
            <a:extLst>
              <a:ext uri="{FF2B5EF4-FFF2-40B4-BE49-F238E27FC236}">
                <a16:creationId xmlns:a16="http://schemas.microsoft.com/office/drawing/2014/main" id="{DA842A1A-8369-704F-C07A-0CFCD105C47B}"/>
              </a:ext>
            </a:extLst>
          </p:cNvPr>
          <p:cNvSpPr txBox="1"/>
          <p:nvPr/>
        </p:nvSpPr>
        <p:spPr>
          <a:xfrm>
            <a:off x="7257434" y="1061436"/>
            <a:ext cx="4216811" cy="4339650"/>
          </a:xfrm>
          <a:prstGeom prst="rect">
            <a:avLst/>
          </a:prstGeom>
          <a:noFill/>
        </p:spPr>
        <p:txBody>
          <a:bodyPr wrap="square" rtlCol="0">
            <a:spAutoFit/>
          </a:bodyPr>
          <a:lstStyle/>
          <a:p>
            <a:r>
              <a:rPr lang="en-IN" sz="1600" dirty="0">
                <a:latin typeface="Calibri" panose="020F0502020204030204" pitchFamily="34" charset="0"/>
                <a:ea typeface="Calibri" panose="020F0502020204030204" pitchFamily="34" charset="0"/>
                <a:cs typeface="Calibri" panose="020F0502020204030204" pitchFamily="34" charset="0"/>
              </a:rPr>
              <a:t>The scatter plot shows the relationship between the distance driven (in kilometers) and the price of   used cars, categorized by fuel type such as petrol, Diesel, CNG, and Hybrid.</a:t>
            </a:r>
          </a:p>
          <a:p>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From the Visualization, Cars with lower milage generally have higher resale value, while longer distances lead to a drop in price due to usage and depreciation.</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Diesel cars dominate at higher prices and milage.</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Hybrid and CNG cars maintain better value at lower mileage due to good fuel efficiency and modern technology.</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The analysis highlights low fuel type and distance driven affect resale value in the used car market.</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8524735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childTnLst>
              </p:cTn>
              <p:nextCondLst>
                <p:cond evt="onClick" delay="0">
                  <p:tgtEl>
                    <p:spTgt spid="5"/>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BFA5A1-494F-AE4F-74E1-247EA54768DA}"/>
              </a:ext>
            </a:extLst>
          </p:cNvPr>
          <p:cNvPicPr>
            <a:picLocks noChangeAspect="1"/>
          </p:cNvPicPr>
          <p:nvPr/>
        </p:nvPicPr>
        <p:blipFill>
          <a:blip r:embed="rId2"/>
          <a:srcRect l="4121" t="191"/>
          <a:stretch>
            <a:fillRect/>
          </a:stretch>
        </p:blipFill>
        <p:spPr>
          <a:xfrm>
            <a:off x="550718" y="1027466"/>
            <a:ext cx="5348748" cy="5137880"/>
          </a:xfrm>
          <a:prstGeom prst="rect">
            <a:avLst/>
          </a:prstGeom>
        </p:spPr>
      </p:pic>
      <p:pic>
        <p:nvPicPr>
          <p:cNvPr id="5" name="Picture 4">
            <a:extLst>
              <a:ext uri="{FF2B5EF4-FFF2-40B4-BE49-F238E27FC236}">
                <a16:creationId xmlns:a16="http://schemas.microsoft.com/office/drawing/2014/main" id="{5829243C-2352-AADB-6D9A-BDBD0DA116CA}"/>
              </a:ext>
            </a:extLst>
          </p:cNvPr>
          <p:cNvPicPr>
            <a:picLocks noChangeAspect="1"/>
          </p:cNvPicPr>
          <p:nvPr/>
        </p:nvPicPr>
        <p:blipFill>
          <a:blip r:embed="rId3"/>
          <a:srcRect l="1088" r="3963" b="1219"/>
          <a:stretch>
            <a:fillRect/>
          </a:stretch>
        </p:blipFill>
        <p:spPr>
          <a:xfrm>
            <a:off x="7094419" y="692639"/>
            <a:ext cx="3940725" cy="3182750"/>
          </a:xfrm>
          <a:prstGeom prst="rect">
            <a:avLst/>
          </a:prstGeom>
        </p:spPr>
      </p:pic>
      <p:sp>
        <p:nvSpPr>
          <p:cNvPr id="4" name="TextBox 3">
            <a:extLst>
              <a:ext uri="{FF2B5EF4-FFF2-40B4-BE49-F238E27FC236}">
                <a16:creationId xmlns:a16="http://schemas.microsoft.com/office/drawing/2014/main" id="{5A9DA98D-08DF-A837-F936-137F3DC464CF}"/>
              </a:ext>
            </a:extLst>
          </p:cNvPr>
          <p:cNvSpPr txBox="1"/>
          <p:nvPr/>
        </p:nvSpPr>
        <p:spPr>
          <a:xfrm>
            <a:off x="6097732" y="4103258"/>
            <a:ext cx="6094268" cy="2062103"/>
          </a:xfrm>
          <a:prstGeom prst="rect">
            <a:avLst/>
          </a:prstGeom>
          <a:noFill/>
        </p:spPr>
        <p:txBody>
          <a:bodyPr wrap="square">
            <a:spAutoFit/>
          </a:bodyPr>
          <a:lstStyle/>
          <a:p>
            <a:pPr marL="285750"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The line plot comparing fuel types indicates the Electric ,Hybrid  cars have highest price ranges ,likely due to newer Technology and better performance.</a:t>
            </a:r>
          </a:p>
          <a:p>
            <a:pPr marL="285750" indent="-285750" algn="l">
              <a:buFont typeface="Arial" panose="020B0604020202020204" pitchFamily="34" charset="0"/>
              <a:buChar char="•"/>
            </a:pPr>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Diesel , petrol cars shows the moderate average Prices while CNGMan and CNGAut vehicles are on the lower end of the price scale. It indicates the Fuel Type significantly influences car pricing, with electric and diesel vehicles commanding premium prices.</a:t>
            </a:r>
          </a:p>
        </p:txBody>
      </p:sp>
      <p:sp>
        <p:nvSpPr>
          <p:cNvPr id="6" name="Title 5">
            <a:extLst>
              <a:ext uri="{FF2B5EF4-FFF2-40B4-BE49-F238E27FC236}">
                <a16:creationId xmlns:a16="http://schemas.microsoft.com/office/drawing/2014/main" id="{E7232F16-9FFC-90A9-44BF-0434D4D65231}"/>
              </a:ext>
            </a:extLst>
          </p:cNvPr>
          <p:cNvSpPr>
            <a:spLocks noGrp="1"/>
          </p:cNvSpPr>
          <p:nvPr>
            <p:ph type="title"/>
          </p:nvPr>
        </p:nvSpPr>
        <p:spPr>
          <a:xfrm>
            <a:off x="422564" y="198871"/>
            <a:ext cx="10290464" cy="414193"/>
          </a:xfrm>
        </p:spPr>
        <p:txBody>
          <a:bodyPr>
            <a:noAutofit/>
          </a:bodyPr>
          <a:lstStyle/>
          <a:p>
            <a:r>
              <a:rPr lang="en-IN" sz="2400" b="1" dirty="0"/>
              <a:t>Price ranges across  Fuel Type</a:t>
            </a:r>
          </a:p>
        </p:txBody>
      </p:sp>
    </p:spTree>
    <p:extLst>
      <p:ext uri="{BB962C8B-B14F-4D97-AF65-F5344CB8AC3E}">
        <p14:creationId xmlns:p14="http://schemas.microsoft.com/office/powerpoint/2010/main" val="272433872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50" fill="hold"/>
                                        <p:tgtEl>
                                          <p:spTgt spid="4"/>
                                        </p:tgtEl>
                                        <p:attrNameLst>
                                          <p:attrName>ppt_x</p:attrName>
                                        </p:attrNameLst>
                                      </p:cBhvr>
                                      <p:tavLst>
                                        <p:tav tm="0">
                                          <p:val>
                                            <p:strVal val="#ppt_x"/>
                                          </p:val>
                                        </p:tav>
                                        <p:tav tm="100000">
                                          <p:val>
                                            <p:strVal val="#ppt_x"/>
                                          </p:val>
                                        </p:tav>
                                      </p:tavLst>
                                    </p:anim>
                                    <p:anim calcmode="lin" valueType="num">
                                      <p:cBhvr additive="base">
                                        <p:cTn id="8" dur="2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nextCondLst>
                <p:cond evt="onClick" delay="0">
                  <p:tgtEl>
                    <p:spTgt spid="5"/>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7A9CE6-1844-96FE-3DF7-EA3ADCF533DA}"/>
              </a:ext>
            </a:extLst>
          </p:cNvPr>
          <p:cNvSpPr txBox="1"/>
          <p:nvPr/>
        </p:nvSpPr>
        <p:spPr>
          <a:xfrm>
            <a:off x="7402273" y="341985"/>
            <a:ext cx="4371974" cy="1323439"/>
          </a:xfrm>
          <a:prstGeom prst="rect">
            <a:avLst/>
          </a:prstGeom>
          <a:noFill/>
        </p:spPr>
        <p:txBody>
          <a:bodyPr wrap="square">
            <a:spAutoFit/>
          </a:bodyPr>
          <a:lstStyle/>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When compared to Location wise average prices of  buy used cars ,cities like Mumbai,delhi-ncr,jaipur and Surat shows higher average prices  than the other indian cities </a:t>
            </a:r>
            <a:r>
              <a:rPr lang="en-IN" sz="1600" dirty="0"/>
              <a:t>.</a:t>
            </a:r>
          </a:p>
        </p:txBody>
      </p:sp>
      <p:pic>
        <p:nvPicPr>
          <p:cNvPr id="6" name="Picture 5">
            <a:extLst>
              <a:ext uri="{FF2B5EF4-FFF2-40B4-BE49-F238E27FC236}">
                <a16:creationId xmlns:a16="http://schemas.microsoft.com/office/drawing/2014/main" id="{67A91D76-22E7-4665-ACA2-4FA867132485}"/>
              </a:ext>
            </a:extLst>
          </p:cNvPr>
          <p:cNvPicPr>
            <a:picLocks noChangeAspect="1"/>
          </p:cNvPicPr>
          <p:nvPr/>
        </p:nvPicPr>
        <p:blipFill>
          <a:blip r:embed="rId2"/>
          <a:stretch>
            <a:fillRect/>
          </a:stretch>
        </p:blipFill>
        <p:spPr>
          <a:xfrm>
            <a:off x="151535" y="147180"/>
            <a:ext cx="6990045" cy="5732760"/>
          </a:xfrm>
          <a:prstGeom prst="rect">
            <a:avLst/>
          </a:prstGeom>
        </p:spPr>
      </p:pic>
      <p:sp>
        <p:nvSpPr>
          <p:cNvPr id="2" name="TextBox 1">
            <a:extLst>
              <a:ext uri="{FF2B5EF4-FFF2-40B4-BE49-F238E27FC236}">
                <a16:creationId xmlns:a16="http://schemas.microsoft.com/office/drawing/2014/main" id="{270C5522-AF7F-1D4B-69B3-27E3C458250C}"/>
              </a:ext>
            </a:extLst>
          </p:cNvPr>
          <p:cNvSpPr txBox="1"/>
          <p:nvPr/>
        </p:nvSpPr>
        <p:spPr>
          <a:xfrm>
            <a:off x="7580672" y="2035277"/>
            <a:ext cx="4193576" cy="2031325"/>
          </a:xfrm>
          <a:prstGeom prst="rect">
            <a:avLst/>
          </a:prstGeom>
          <a:noFill/>
        </p:spPr>
        <p:txBody>
          <a:bodyPr wrap="square" rtlCol="0">
            <a:spAutoFit/>
          </a:bodyPr>
          <a:lstStyle/>
          <a:p>
            <a:pPr marL="285750" indent="-285750">
              <a:buFont typeface="Arial" panose="020B0604020202020204" pitchFamily="34" charset="0"/>
              <a:buChar char="•"/>
            </a:pPr>
            <a:r>
              <a:rPr lang="en-IN" dirty="0"/>
              <a:t>This means that the used car Market in the metro or economically strong cities tends to have higher prices, possibly due to:</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Higher Demand and living standards,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Better vehicle maintenance and resale value,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More availability of premium models.</a:t>
            </a:r>
          </a:p>
        </p:txBody>
      </p:sp>
    </p:spTree>
    <p:extLst>
      <p:ext uri="{BB962C8B-B14F-4D97-AF65-F5344CB8AC3E}">
        <p14:creationId xmlns:p14="http://schemas.microsoft.com/office/powerpoint/2010/main" val="147179171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5"/>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BFB36C-9FCA-1641-E42B-3F13E375A4F1}"/>
              </a:ext>
            </a:extLst>
          </p:cNvPr>
          <p:cNvPicPr>
            <a:picLocks noChangeAspect="1"/>
          </p:cNvPicPr>
          <p:nvPr/>
        </p:nvPicPr>
        <p:blipFill>
          <a:blip r:embed="rId2"/>
          <a:stretch>
            <a:fillRect/>
          </a:stretch>
        </p:blipFill>
        <p:spPr>
          <a:xfrm>
            <a:off x="4799445" y="655088"/>
            <a:ext cx="7112000" cy="4878965"/>
          </a:xfrm>
          <a:prstGeom prst="rect">
            <a:avLst/>
          </a:prstGeom>
        </p:spPr>
      </p:pic>
      <p:sp>
        <p:nvSpPr>
          <p:cNvPr id="2" name="TextBox 1">
            <a:extLst>
              <a:ext uri="{FF2B5EF4-FFF2-40B4-BE49-F238E27FC236}">
                <a16:creationId xmlns:a16="http://schemas.microsoft.com/office/drawing/2014/main" id="{6FE5FF46-E063-F14B-5ADA-2D119C08CA2C}"/>
              </a:ext>
            </a:extLst>
          </p:cNvPr>
          <p:cNvSpPr txBox="1"/>
          <p:nvPr/>
        </p:nvSpPr>
        <p:spPr>
          <a:xfrm>
            <a:off x="280555" y="256958"/>
            <a:ext cx="4518890" cy="5478423"/>
          </a:xfrm>
          <a:prstGeom prst="rect">
            <a:avLst/>
          </a:prstGeom>
          <a:noFill/>
        </p:spPr>
        <p:txBody>
          <a:bodyPr wrap="square" rtlCol="0">
            <a:spAutoFit/>
          </a:bodyPr>
          <a:lstStyle/>
          <a:p>
            <a:pPr marL="285750" indent="-285750">
              <a:buFont typeface="Arial" panose="020B0604020202020204" pitchFamily="34" charset="0"/>
              <a:buChar char="•"/>
            </a:pPr>
            <a:r>
              <a:rPr lang="en-IN" sz="1800" b="1" dirty="0"/>
              <a:t>Brand wise buy used car price Analysis</a:t>
            </a:r>
            <a:endParaRPr lang="en-IN" sz="2000" b="1" dirty="0"/>
          </a:p>
          <a:p>
            <a:pPr marL="285750" indent="-285750">
              <a:buFont typeface="Arial" panose="020B0604020202020204" pitchFamily="34" charset="0"/>
              <a:buChar char="•"/>
            </a:pPr>
            <a:endParaRPr lang="en-IN" sz="2000" b="1" dirty="0"/>
          </a:p>
          <a:p>
            <a:pPr marL="285750" indent="-285750">
              <a:buFont typeface="Arial" panose="020B0604020202020204" pitchFamily="34" charset="0"/>
              <a:buChar char="•"/>
            </a:pPr>
            <a:r>
              <a:rPr lang="en-IN" dirty="0"/>
              <a:t>Luxury car Brands such as Porsche , BMW, Mercedes, and Lexus display the highest average prices, reflecting their premium market value and advances features.</a:t>
            </a:r>
          </a:p>
          <a:p>
            <a:endParaRPr lang="en-IN" dirty="0"/>
          </a:p>
          <a:p>
            <a:pPr marL="285750" indent="-285750">
              <a:buFont typeface="Arial" panose="020B0604020202020204" pitchFamily="34" charset="0"/>
              <a:buChar char="•"/>
            </a:pPr>
            <a:r>
              <a:rPr lang="en-IN" dirty="0"/>
              <a:t> On the other hand , economy brands such as Maruti, Hyundai, Tata, Renault, and Datsun show comparatively lower prices, indicating affordability and widespread availability in the Indian market.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Brands like Toyota, Mahindra, and Jeep maintain mid-range prices, showcasing a balance between durability and performance. </a:t>
            </a:r>
          </a:p>
          <a:p>
            <a:r>
              <a:rPr lang="en-IN"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Overall, the visualisation highlights how brand value plays a crucial role in determining the resale price of used cars- luxury brands retain higher value even in the second-hand market.</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012126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2C78ED-C3CB-28BD-436F-E8DC087589E6}"/>
              </a:ext>
            </a:extLst>
          </p:cNvPr>
          <p:cNvPicPr>
            <a:picLocks noChangeAspect="1"/>
          </p:cNvPicPr>
          <p:nvPr/>
        </p:nvPicPr>
        <p:blipFill>
          <a:blip r:embed="rId2"/>
          <a:stretch>
            <a:fillRect/>
          </a:stretch>
        </p:blipFill>
        <p:spPr>
          <a:xfrm>
            <a:off x="0" y="0"/>
            <a:ext cx="5439329" cy="4806935"/>
          </a:xfrm>
          <a:prstGeom prst="rect">
            <a:avLst/>
          </a:prstGeom>
        </p:spPr>
      </p:pic>
      <p:pic>
        <p:nvPicPr>
          <p:cNvPr id="5" name="Picture 4">
            <a:extLst>
              <a:ext uri="{FF2B5EF4-FFF2-40B4-BE49-F238E27FC236}">
                <a16:creationId xmlns:a16="http://schemas.microsoft.com/office/drawing/2014/main" id="{7BE4CC35-81D4-A9BC-FB21-5DCD1B18557B}"/>
              </a:ext>
            </a:extLst>
          </p:cNvPr>
          <p:cNvPicPr>
            <a:picLocks noChangeAspect="1"/>
          </p:cNvPicPr>
          <p:nvPr/>
        </p:nvPicPr>
        <p:blipFill>
          <a:blip r:embed="rId3"/>
          <a:stretch>
            <a:fillRect/>
          </a:stretch>
        </p:blipFill>
        <p:spPr>
          <a:xfrm>
            <a:off x="6177280" y="436880"/>
            <a:ext cx="4444181" cy="4080387"/>
          </a:xfrm>
          <a:prstGeom prst="rect">
            <a:avLst/>
          </a:prstGeom>
        </p:spPr>
      </p:pic>
      <p:sp>
        <p:nvSpPr>
          <p:cNvPr id="6" name="TextBox 5">
            <a:extLst>
              <a:ext uri="{FF2B5EF4-FFF2-40B4-BE49-F238E27FC236}">
                <a16:creationId xmlns:a16="http://schemas.microsoft.com/office/drawing/2014/main" id="{A56E763E-6A82-BE50-B4CB-7882207D5CD3}"/>
              </a:ext>
            </a:extLst>
          </p:cNvPr>
          <p:cNvSpPr txBox="1"/>
          <p:nvPr/>
        </p:nvSpPr>
        <p:spPr>
          <a:xfrm>
            <a:off x="525294" y="5038926"/>
            <a:ext cx="10272408"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Fuel Vs Transmission Heatmap and Bar chart shows that manual Transmission cars dominate across all </a:t>
            </a:r>
            <a:r>
              <a:rPr lang="en-US" sz="1600" dirty="0" err="1">
                <a:latin typeface="Calibri" panose="020F0502020204030204" pitchFamily="34" charset="0"/>
                <a:ea typeface="Calibri" panose="020F0502020204030204" pitchFamily="34" charset="0"/>
                <a:cs typeface="Calibri" panose="020F0502020204030204" pitchFamily="34" charset="0"/>
              </a:rPr>
              <a:t>Fual</a:t>
            </a:r>
            <a:r>
              <a:rPr lang="en-US" sz="1600" dirty="0">
                <a:latin typeface="Calibri" panose="020F0502020204030204" pitchFamily="34" charset="0"/>
                <a:ea typeface="Calibri" panose="020F0502020204030204" pitchFamily="34" charset="0"/>
                <a:cs typeface="Calibri" panose="020F0502020204030204" pitchFamily="34" charset="0"/>
              </a:rPr>
              <a:t> types, especially among the petrol vehicles , while Automic cars are more common premium and new models</a:t>
            </a:r>
            <a:r>
              <a:rPr lang="en-US" dirty="0"/>
              <a:t>.</a:t>
            </a:r>
            <a:endParaRPr lang="en-IN" dirty="0"/>
          </a:p>
        </p:txBody>
      </p:sp>
    </p:spTree>
    <p:extLst>
      <p:ext uri="{BB962C8B-B14F-4D97-AF65-F5344CB8AC3E}">
        <p14:creationId xmlns:p14="http://schemas.microsoft.com/office/powerpoint/2010/main" val="76872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03AA49-90C5-6488-CC32-B19A1743771E}"/>
              </a:ext>
            </a:extLst>
          </p:cNvPr>
          <p:cNvPicPr>
            <a:picLocks noChangeAspect="1"/>
          </p:cNvPicPr>
          <p:nvPr/>
        </p:nvPicPr>
        <p:blipFill>
          <a:blip r:embed="rId2"/>
          <a:stretch>
            <a:fillRect/>
          </a:stretch>
        </p:blipFill>
        <p:spPr>
          <a:xfrm>
            <a:off x="6096000" y="688600"/>
            <a:ext cx="5539332" cy="4832524"/>
          </a:xfrm>
          <a:prstGeom prst="rect">
            <a:avLst/>
          </a:prstGeom>
        </p:spPr>
      </p:pic>
      <p:sp>
        <p:nvSpPr>
          <p:cNvPr id="2" name="TextBox 1">
            <a:extLst>
              <a:ext uri="{FF2B5EF4-FFF2-40B4-BE49-F238E27FC236}">
                <a16:creationId xmlns:a16="http://schemas.microsoft.com/office/drawing/2014/main" id="{25D30D69-6BB7-38FE-B0D1-E5789080EB2F}"/>
              </a:ext>
            </a:extLst>
          </p:cNvPr>
          <p:cNvSpPr txBox="1"/>
          <p:nvPr/>
        </p:nvSpPr>
        <p:spPr>
          <a:xfrm>
            <a:off x="481781" y="1226790"/>
            <a:ext cx="5142270" cy="3908762"/>
          </a:xfrm>
          <a:prstGeom prst="rect">
            <a:avLst/>
          </a:prstGeom>
          <a:noFill/>
        </p:spPr>
        <p:txBody>
          <a:bodyPr wrap="square" rtlCol="0">
            <a:spAutoFit/>
          </a:bodyPr>
          <a:lstStyle/>
          <a:p>
            <a:pPr marL="285750" indent="-285750">
              <a:buFont typeface="Arial" panose="020B0604020202020204" pitchFamily="34" charset="0"/>
              <a:buChar char="•"/>
            </a:pPr>
            <a:r>
              <a:rPr lang="en-US" sz="1600" dirty="0"/>
              <a:t>I analyzed the relationship between transmission type and car price using a box plot. The results show that </a:t>
            </a:r>
            <a:r>
              <a:rPr lang="en-US" sz="1600" b="1" dirty="0"/>
              <a:t>automatic transmission cars tend to be more expensive</a:t>
            </a:r>
            <a:r>
              <a:rPr lang="en-US" sz="1600" dirty="0"/>
              <a:t> than manual ones.</a:t>
            </a:r>
          </a:p>
          <a:p>
            <a:endParaRPr lang="en-US" sz="1600" dirty="0"/>
          </a:p>
          <a:p>
            <a:pPr marL="285750" indent="-285750">
              <a:buFont typeface="Arial" panose="020B0604020202020204" pitchFamily="34" charset="0"/>
              <a:buChar char="•"/>
            </a:pPr>
            <a:r>
              <a:rPr lang="en-US" dirty="0"/>
              <a:t>The median price for automatic cars is significantly higher—around ₹20 lakhs—while manual cars have a lower median, closer to ₹5 lakhs.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price range for automatic cars is also wider, with more variability and some high-end outliers, which likely represent luxury or newer models.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suggests that automatic cars are often positioned in the premium segment, and buyers are willing to pay more for convenience and modern features.</a:t>
            </a:r>
          </a:p>
          <a:p>
            <a:endParaRPr lang="en-IN" dirty="0"/>
          </a:p>
        </p:txBody>
      </p:sp>
      <p:sp>
        <p:nvSpPr>
          <p:cNvPr id="10" name="TextBox 9">
            <a:extLst>
              <a:ext uri="{FF2B5EF4-FFF2-40B4-BE49-F238E27FC236}">
                <a16:creationId xmlns:a16="http://schemas.microsoft.com/office/drawing/2014/main" id="{5BBA4724-926B-4A2D-5B8E-0B2E4A662B71}"/>
              </a:ext>
            </a:extLst>
          </p:cNvPr>
          <p:cNvSpPr txBox="1"/>
          <p:nvPr/>
        </p:nvSpPr>
        <p:spPr>
          <a:xfrm>
            <a:off x="254174" y="226935"/>
            <a:ext cx="3090911"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Transmission  Vs. Price</a:t>
            </a:r>
          </a:p>
        </p:txBody>
      </p:sp>
    </p:spTree>
    <p:extLst>
      <p:ext uri="{BB962C8B-B14F-4D97-AF65-F5344CB8AC3E}">
        <p14:creationId xmlns:p14="http://schemas.microsoft.com/office/powerpoint/2010/main" val="3948046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DE725-2302-5AD0-A2F1-FA9F80400A5C}"/>
              </a:ext>
            </a:extLst>
          </p:cNvPr>
          <p:cNvSpPr>
            <a:spLocks noGrp="1"/>
          </p:cNvSpPr>
          <p:nvPr>
            <p:ph type="title"/>
          </p:nvPr>
        </p:nvSpPr>
        <p:spPr>
          <a:xfrm>
            <a:off x="86360" y="92597"/>
            <a:ext cx="3918481" cy="601884"/>
          </a:xfrm>
        </p:spPr>
        <p:txBody>
          <a:bodyPr>
            <a:normAutofit fontScale="90000"/>
          </a:bodyPr>
          <a:lstStyle/>
          <a:p>
            <a:r>
              <a:rPr lang="en-IN" sz="3200" b="1" dirty="0"/>
              <a:t>Key Business Questions</a:t>
            </a:r>
          </a:p>
        </p:txBody>
      </p:sp>
      <p:sp>
        <p:nvSpPr>
          <p:cNvPr id="4" name="TextBox 3">
            <a:extLst>
              <a:ext uri="{FF2B5EF4-FFF2-40B4-BE49-F238E27FC236}">
                <a16:creationId xmlns:a16="http://schemas.microsoft.com/office/drawing/2014/main" id="{ED77A56D-68A0-F5AF-5B9A-43F31383E7DA}"/>
              </a:ext>
            </a:extLst>
          </p:cNvPr>
          <p:cNvSpPr txBox="1"/>
          <p:nvPr/>
        </p:nvSpPr>
        <p:spPr>
          <a:xfrm>
            <a:off x="86360" y="694481"/>
            <a:ext cx="11905012" cy="6063198"/>
          </a:xfrm>
          <a:prstGeom prst="rect">
            <a:avLst/>
          </a:prstGeom>
          <a:noFill/>
        </p:spPr>
        <p:txBody>
          <a:bodyPr wrap="square">
            <a:spAutoFit/>
          </a:bodyPr>
          <a:lstStyle/>
          <a:p>
            <a:pPr algn="l">
              <a:buFont typeface="+mj-lt"/>
              <a:buAutoNum type="arabicPeriod"/>
            </a:pPr>
            <a:r>
              <a:rPr lang="en-US" sz="1800" b="1" i="0" dirty="0">
                <a:effectLst/>
                <a:latin typeface="Calibri" panose="020F0502020204030204" pitchFamily="34" charset="0"/>
                <a:ea typeface="Calibri" panose="020F0502020204030204" pitchFamily="34" charset="0"/>
                <a:cs typeface="Calibri" panose="020F0502020204030204" pitchFamily="34" charset="0"/>
              </a:rPr>
              <a:t>What are the top  most popular brands in the used car market?</a:t>
            </a:r>
          </a:p>
          <a:p>
            <a:pPr algn="l"/>
            <a:r>
              <a:rPr lang="en-US" sz="1600" b="1" dirty="0">
                <a:latin typeface="system-ui"/>
              </a:rPr>
              <a:t>   </a:t>
            </a:r>
            <a:r>
              <a:rPr lang="en-US" sz="1600" dirty="0">
                <a:latin typeface="system-ui"/>
              </a:rPr>
              <a:t>I used a Bar chart to count listing by brand .Maruti, Hyundai, and Tata were the top three, followed by Honda and Renault. These brands         dominate due to affordability and availability.</a:t>
            </a:r>
            <a:endParaRPr lang="en-US" sz="1600" b="1" i="0" dirty="0">
              <a:effectLst/>
              <a:latin typeface="system-ui"/>
            </a:endParaRPr>
          </a:p>
          <a:p>
            <a:pPr algn="l"/>
            <a:endParaRPr lang="en-US" b="0" i="0" dirty="0">
              <a:effectLst/>
              <a:latin typeface="system-ui"/>
            </a:endParaRPr>
          </a:p>
          <a:p>
            <a:pPr algn="l"/>
            <a:r>
              <a:rPr lang="en-US" sz="1800" b="1" i="0" dirty="0">
                <a:effectLst/>
                <a:latin typeface="Calibri" panose="020F0502020204030204" pitchFamily="34" charset="0"/>
                <a:ea typeface="Calibri" panose="020F0502020204030204" pitchFamily="34" charset="0"/>
                <a:cs typeface="Calibri" panose="020F0502020204030204" pitchFamily="34" charset="0"/>
              </a:rPr>
              <a:t>2.How does car age influence the resale price?</a:t>
            </a:r>
          </a:p>
          <a:p>
            <a:pPr algn="l"/>
            <a:r>
              <a:rPr lang="en-US" sz="1600" i="0" dirty="0">
                <a:effectLst/>
                <a:latin typeface="Calibri" panose="020F0502020204030204" pitchFamily="34" charset="0"/>
                <a:ea typeface="Calibri" panose="020F0502020204030204" pitchFamily="34" charset="0"/>
                <a:cs typeface="Calibri" panose="020F0502020204030204" pitchFamily="34" charset="0"/>
              </a:rPr>
              <a:t>  In Price Vs. Year plot and  found that newer cars (2018-2022) have higher resale prices . Older models (Before 2014) show steep price drops ,    confirming expected depreciation trends.</a:t>
            </a:r>
          </a:p>
          <a:p>
            <a:pPr algn="l"/>
            <a:r>
              <a:rPr lang="en-US" sz="1600" dirty="0">
                <a:latin typeface="Calibri" panose="020F0502020204030204" pitchFamily="34" charset="0"/>
                <a:ea typeface="Calibri" panose="020F0502020204030204" pitchFamily="34" charset="0"/>
                <a:cs typeface="Calibri" panose="020F0502020204030204" pitchFamily="34" charset="0"/>
              </a:rPr>
              <a:t> Reflecting greater demand for recent cars with updated features.</a:t>
            </a:r>
            <a:endParaRPr lang="en-US" sz="16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mj-lt"/>
              <a:buAutoNum type="arabicPeriod"/>
            </a:pPr>
            <a:endParaRPr lang="en-US" b="0" i="0" dirty="0">
              <a:effectLst/>
              <a:latin typeface="system-ui"/>
            </a:endParaRPr>
          </a:p>
          <a:p>
            <a:pPr algn="l"/>
            <a:r>
              <a:rPr lang="en-US" sz="1800" b="1" i="0" dirty="0">
                <a:effectLst/>
                <a:latin typeface="Calibri" panose="020F0502020204030204" pitchFamily="34" charset="0"/>
                <a:ea typeface="Calibri" panose="020F0502020204030204" pitchFamily="34" charset="0"/>
                <a:cs typeface="Calibri" panose="020F0502020204030204" pitchFamily="34" charset="0"/>
              </a:rPr>
              <a:t>3. Which fuel type offers the best resale value?</a:t>
            </a:r>
          </a:p>
          <a:p>
            <a:pPr algn="l"/>
            <a:r>
              <a:rPr lang="en-US" sz="1600" i="0" dirty="0">
                <a:effectLst/>
                <a:latin typeface="Calibri" panose="020F0502020204030204" pitchFamily="34" charset="0"/>
                <a:ea typeface="Calibri" panose="020F0502020204030204" pitchFamily="34" charset="0"/>
                <a:cs typeface="Calibri" panose="020F0502020204030204" pitchFamily="34" charset="0"/>
              </a:rPr>
              <a:t> Electric and Hybrid cars had the highest average prices , likely due to newer technology . petrol cars were most common but moderately priced. Diesel and CNG had lower resale values overall.</a:t>
            </a:r>
          </a:p>
          <a:p>
            <a:pPr algn="l">
              <a:buFont typeface="+mj-lt"/>
              <a:buAutoNum type="arabicPeriod"/>
            </a:pPr>
            <a:endParaRPr lang="en-US" b="0" i="0" dirty="0">
              <a:effectLst/>
              <a:latin typeface="system-ui"/>
            </a:endParaRPr>
          </a:p>
          <a:p>
            <a:pPr algn="l"/>
            <a:r>
              <a:rPr lang="en-US" sz="1800" b="1" i="0" dirty="0">
                <a:effectLst/>
                <a:latin typeface="Calibri" panose="020F0502020204030204" pitchFamily="34" charset="0"/>
                <a:ea typeface="Calibri" panose="020F0502020204030204" pitchFamily="34" charset="0"/>
                <a:cs typeface="Calibri" panose="020F0502020204030204" pitchFamily="34" charset="0"/>
              </a:rPr>
              <a:t>4. What is the typical mileage (driven_</a:t>
            </a:r>
            <a:r>
              <a:rPr lang="en-US" sz="1800" b="1" dirty="0">
                <a:latin typeface="Calibri" panose="020F0502020204030204" pitchFamily="34" charset="0"/>
                <a:ea typeface="Calibri" panose="020F0502020204030204" pitchFamily="34" charset="0"/>
                <a:cs typeface="Calibri" panose="020F0502020204030204" pitchFamily="34" charset="0"/>
              </a:rPr>
              <a:t>k</a:t>
            </a:r>
            <a:r>
              <a:rPr lang="en-US" sz="1800" b="1" i="0" dirty="0">
                <a:effectLst/>
                <a:latin typeface="Calibri" panose="020F0502020204030204" pitchFamily="34" charset="0"/>
                <a:ea typeface="Calibri" panose="020F0502020204030204" pitchFamily="34" charset="0"/>
                <a:cs typeface="Calibri" panose="020F0502020204030204" pitchFamily="34" charset="0"/>
              </a:rPr>
              <a:t>m) for first-owner used cars?</a:t>
            </a:r>
          </a:p>
          <a:p>
            <a:pPr algn="l"/>
            <a:r>
              <a:rPr lang="en-US" sz="1600" b="0" i="0" dirty="0">
                <a:effectLst/>
                <a:latin typeface="Calibri" panose="020F0502020204030204" pitchFamily="34" charset="0"/>
                <a:ea typeface="Calibri" panose="020F0502020204030204" pitchFamily="34" charset="0"/>
                <a:cs typeface="Calibri" panose="020F0502020204030204" pitchFamily="34" charset="0"/>
              </a:rPr>
              <a:t>  I filter for first-owner cars and calculated average Driven kilometers. Most were under 50,000 km, indicating better condition and higher resale potential.</a:t>
            </a:r>
          </a:p>
          <a:p>
            <a:pPr algn="l"/>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algn="l"/>
            <a:r>
              <a:rPr lang="en-US" sz="1800" b="1" i="0" dirty="0">
                <a:effectLst/>
                <a:latin typeface="system-ui"/>
              </a:rPr>
              <a:t>5. Which brands retain value best over time?</a:t>
            </a:r>
          </a:p>
          <a:p>
            <a:pPr algn="l"/>
            <a:r>
              <a:rPr lang="en-US" sz="1600" dirty="0">
                <a:latin typeface="Calibri" panose="020F0502020204030204" pitchFamily="34" charset="0"/>
                <a:ea typeface="Calibri" panose="020F0502020204030204" pitchFamily="34" charset="0"/>
                <a:cs typeface="Calibri" panose="020F0502020204030204" pitchFamily="34" charset="0"/>
              </a:rPr>
              <a:t> I compared average prices across year for each brand. Luxury brands like BMW , Porsche , Lexus retained higher prices even after several years. Mid-range brands like Toyota and Mahindra showed balanced depreciation.</a:t>
            </a:r>
            <a:endParaRPr lang="en-US" sz="16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mj-lt"/>
              <a:buAutoNum type="arabicPeriod"/>
            </a:pPr>
            <a:endParaRPr lang="en-US" sz="1600" b="1" dirty="0">
              <a:latin typeface="system-ui"/>
            </a:endParaRPr>
          </a:p>
          <a:p>
            <a:pPr algn="l">
              <a:buFont typeface="+mj-lt"/>
              <a:buAutoNum type="arabicPeriod"/>
            </a:pPr>
            <a:endParaRPr lang="en-US" sz="1600" b="1" i="0" dirty="0">
              <a:effectLst/>
              <a:latin typeface="system-ui"/>
            </a:endParaRPr>
          </a:p>
          <a:p>
            <a:pPr algn="l">
              <a:buFont typeface="+mj-lt"/>
              <a:buAutoNum type="arabicPeriod"/>
            </a:pPr>
            <a:endParaRPr lang="en-US" sz="1600" b="1" dirty="0">
              <a:latin typeface="system-ui"/>
            </a:endParaRPr>
          </a:p>
          <a:p>
            <a:pPr algn="l">
              <a:buFont typeface="+mj-lt"/>
              <a:buAutoNum type="arabicPeriod"/>
            </a:pPr>
            <a:endParaRPr lang="en-US" sz="1600" b="1" i="0" dirty="0">
              <a:effectLst/>
              <a:latin typeface="system-ui"/>
            </a:endParaRPr>
          </a:p>
        </p:txBody>
      </p:sp>
    </p:spTree>
    <p:extLst>
      <p:ext uri="{BB962C8B-B14F-4D97-AF65-F5344CB8AC3E}">
        <p14:creationId xmlns:p14="http://schemas.microsoft.com/office/powerpoint/2010/main" val="332938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1D4E0E-FF89-6F3D-BB49-7367E1F4360E}"/>
              </a:ext>
            </a:extLst>
          </p:cNvPr>
          <p:cNvSpPr txBox="1"/>
          <p:nvPr/>
        </p:nvSpPr>
        <p:spPr>
          <a:xfrm>
            <a:off x="363793" y="255639"/>
            <a:ext cx="10412361" cy="4955203"/>
          </a:xfrm>
          <a:prstGeom prst="rect">
            <a:avLst/>
          </a:prstGeom>
          <a:noFill/>
        </p:spPr>
        <p:txBody>
          <a:bodyPr wrap="square">
            <a:spAutoFit/>
          </a:bodyPr>
          <a:lstStyle/>
          <a:p>
            <a:pPr algn="l">
              <a:spcBef>
                <a:spcPts val="1814"/>
              </a:spcBef>
              <a:spcAft>
                <a:spcPts val="1210"/>
              </a:spcAft>
              <a:buNone/>
            </a:pPr>
            <a:r>
              <a:rPr lang="en-US" sz="1800" b="1" i="0" dirty="0">
                <a:effectLst/>
                <a:latin typeface="Calibri" panose="020F0502020204030204" pitchFamily="34" charset="0"/>
                <a:ea typeface="Calibri" panose="020F0502020204030204" pitchFamily="34" charset="0"/>
                <a:cs typeface="Calibri" panose="020F0502020204030204" pitchFamily="34" charset="0"/>
              </a:rPr>
              <a:t>Conclusion (Key Findings Overall)</a:t>
            </a:r>
            <a:endParaRPr lang="en-US" sz="1800"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 Key Insights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Arial" panose="020B0604020202020204" pitchFamily="34" charset="0"/>
              <a:buChar char="•"/>
            </a:pPr>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The </a:t>
            </a:r>
            <a:r>
              <a:rPr lang="en-US" b="1" i="0" dirty="0">
                <a:effectLst/>
                <a:latin typeface="Calibri" panose="020F0502020204030204" pitchFamily="34" charset="0"/>
                <a:ea typeface="Calibri" panose="020F0502020204030204" pitchFamily="34" charset="0"/>
                <a:cs typeface="Calibri" panose="020F0502020204030204" pitchFamily="34" charset="0"/>
              </a:rPr>
              <a:t>age of a car</a:t>
            </a:r>
            <a:r>
              <a:rPr lang="en-US" b="0" i="0" dirty="0">
                <a:effectLst/>
                <a:latin typeface="Calibri" panose="020F0502020204030204" pitchFamily="34" charset="0"/>
                <a:ea typeface="Calibri" panose="020F0502020204030204" pitchFamily="34" charset="0"/>
                <a:cs typeface="Calibri" panose="020F0502020204030204" pitchFamily="34" charset="0"/>
              </a:rPr>
              <a:t> plays a significant role in determining its price, with newer cars being priced higher.</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There is a </a:t>
            </a:r>
            <a:r>
              <a:rPr lang="en-US" b="1" i="0" dirty="0">
                <a:effectLst/>
                <a:latin typeface="Calibri" panose="020F0502020204030204" pitchFamily="34" charset="0"/>
                <a:ea typeface="Calibri" panose="020F0502020204030204" pitchFamily="34" charset="0"/>
                <a:cs typeface="Calibri" panose="020F0502020204030204" pitchFamily="34" charset="0"/>
              </a:rPr>
              <a:t>clear preference for certain car brands</a:t>
            </a:r>
            <a:r>
              <a:rPr lang="en-US" b="0" i="0" dirty="0">
                <a:effectLst/>
                <a:latin typeface="Calibri" panose="020F0502020204030204" pitchFamily="34" charset="0"/>
                <a:ea typeface="Calibri" panose="020F0502020204030204" pitchFamily="34" charset="0"/>
                <a:cs typeface="Calibri" panose="020F0502020204030204" pitchFamily="34" charset="0"/>
              </a:rPr>
              <a:t> in the used car market, leading to higher prices for popular brands.</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Fuel type</a:t>
            </a:r>
            <a:r>
              <a:rPr lang="en-US" b="0" i="0" dirty="0">
                <a:effectLst/>
                <a:latin typeface="Calibri" panose="020F0502020204030204" pitchFamily="34" charset="0"/>
                <a:ea typeface="Calibri" panose="020F0502020204030204" pitchFamily="34" charset="0"/>
                <a:cs typeface="Calibri" panose="020F0502020204030204" pitchFamily="34" charset="0"/>
              </a:rPr>
              <a:t> has a noticeable effect on pricing, with electric cars generally priced higher.</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Cities</a:t>
            </a:r>
            <a:r>
              <a:rPr lang="en-US" b="0" i="0" dirty="0">
                <a:effectLst/>
                <a:latin typeface="Calibri" panose="020F0502020204030204" pitchFamily="34" charset="0"/>
                <a:ea typeface="Calibri" panose="020F0502020204030204" pitchFamily="34" charset="0"/>
                <a:cs typeface="Calibri" panose="020F0502020204030204" pitchFamily="34" charset="0"/>
              </a:rPr>
              <a:t> like Delhi and Mumbai show higher average prices due to demand.</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Driven kilometers</a:t>
            </a:r>
            <a:r>
              <a:rPr lang="en-US" b="0" i="0" dirty="0">
                <a:effectLst/>
                <a:latin typeface="Calibri" panose="020F0502020204030204" pitchFamily="34" charset="0"/>
                <a:ea typeface="Calibri" panose="020F0502020204030204" pitchFamily="34" charset="0"/>
                <a:cs typeface="Calibri" panose="020F0502020204030204" pitchFamily="34" charset="0"/>
              </a:rPr>
              <a:t> have a strong negative correlation with car prices, with higher mileage reducing the price.</a:t>
            </a:r>
          </a:p>
          <a:p>
            <a:pPr marL="457200" lvl="1" algn="l"/>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 Next Steps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Arial" panose="020B0604020202020204" pitchFamily="34" charset="0"/>
              <a:buChar char="•"/>
            </a:pPr>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Create more </a:t>
            </a:r>
            <a:r>
              <a:rPr lang="en-US" dirty="0">
                <a:latin typeface="Calibri" panose="020F0502020204030204" pitchFamily="34" charset="0"/>
                <a:ea typeface="Calibri" panose="020F0502020204030204" pitchFamily="34" charset="0"/>
                <a:cs typeface="Calibri" panose="020F0502020204030204" pitchFamily="34" charset="0"/>
              </a:rPr>
              <a:t>regular</a:t>
            </a:r>
            <a:r>
              <a:rPr lang="en-US" b="0" i="0" dirty="0">
                <a:effectLst/>
                <a:latin typeface="Calibri" panose="020F0502020204030204" pitchFamily="34" charset="0"/>
                <a:ea typeface="Calibri" panose="020F0502020204030204" pitchFamily="34" charset="0"/>
                <a:cs typeface="Calibri" panose="020F0502020204030204" pitchFamily="34" charset="0"/>
              </a:rPr>
              <a:t> analysis per city to compare pricing patterns.</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Explore potential factors affecting price such as condition, service history, etc.</a:t>
            </a:r>
          </a:p>
          <a:p>
            <a:pPr>
              <a:buNone/>
            </a:pPr>
            <a:br>
              <a:rPr lang="en-US"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1597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D8C8-18F6-D8C2-37C6-9CA0A054107F}"/>
              </a:ext>
            </a:extLst>
          </p:cNvPr>
          <p:cNvSpPr>
            <a:spLocks noGrp="1"/>
          </p:cNvSpPr>
          <p:nvPr>
            <p:ph type="title"/>
          </p:nvPr>
        </p:nvSpPr>
        <p:spPr>
          <a:xfrm>
            <a:off x="166254" y="1"/>
            <a:ext cx="11187545" cy="893617"/>
          </a:xfrm>
        </p:spPr>
        <p:txBody>
          <a:bodyPr>
            <a:normAutofit/>
          </a:bodyPr>
          <a:lstStyle/>
          <a:p>
            <a:r>
              <a:rPr lang="en-IN" sz="2400" b="1" dirty="0"/>
              <a:t>Your Experience/Challenges working on Web Scraping – Data Analysis Project</a:t>
            </a:r>
            <a:endParaRPr lang="en-IN" sz="2400" dirty="0"/>
          </a:p>
        </p:txBody>
      </p:sp>
      <p:sp>
        <p:nvSpPr>
          <p:cNvPr id="3" name="Text Placeholder 2">
            <a:extLst>
              <a:ext uri="{FF2B5EF4-FFF2-40B4-BE49-F238E27FC236}">
                <a16:creationId xmlns:a16="http://schemas.microsoft.com/office/drawing/2014/main" id="{0C19583B-DAFA-13E5-A99F-E0866A109EA2}"/>
              </a:ext>
            </a:extLst>
          </p:cNvPr>
          <p:cNvSpPr>
            <a:spLocks noGrp="1"/>
          </p:cNvSpPr>
          <p:nvPr>
            <p:ph type="body" idx="1"/>
          </p:nvPr>
        </p:nvSpPr>
        <p:spPr>
          <a:xfrm>
            <a:off x="266700" y="932008"/>
            <a:ext cx="10515600" cy="4351338"/>
          </a:xfrm>
        </p:spPr>
        <p:txBody>
          <a:bodyPr>
            <a:normAutofit/>
          </a:bodyPr>
          <a:lstStyle/>
          <a:p>
            <a:r>
              <a:rPr lang="en-IN" sz="1600" dirty="0"/>
              <a:t>While working on this project, I gained valuable hands-on experience in web scraping and data analysis using Python. The process of scraping data from the Cars24 website helped me understand how to extract real-world information, manage unstructured data, and transform it into a clean and organized dataset for further analysis. Though data visualization, I explored various graphical techniques such as bar charts, boxplots, histograms, line plots, and scatter plots to identify meaningful patterns and trends related to car prices, brands, fuel types, years, and transmission modes.</a:t>
            </a:r>
          </a:p>
          <a:p>
            <a:r>
              <a:rPr lang="en-IN" sz="1600" dirty="0"/>
              <a:t> This project enhanced my technical skills in data preprocessing, visualization, and interpretation, while also improving my ability to draw insights from large datasets. Overall ,it was highly deepened my understanding of how data analytics can reveal market behaviour and consumer preferences in the used car industry.</a:t>
            </a:r>
          </a:p>
        </p:txBody>
      </p:sp>
    </p:spTree>
    <p:extLst>
      <p:ext uri="{BB962C8B-B14F-4D97-AF65-F5344CB8AC3E}">
        <p14:creationId xmlns:p14="http://schemas.microsoft.com/office/powerpoint/2010/main" val="27096505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nextCondLst>
                <p:cond evt="onClick" delay="0">
                  <p:tgtEl>
                    <p:spTgt spid="2"/>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3212</TotalTime>
  <Words>1983</Words>
  <Application>Microsoft Office PowerPoint</Application>
  <PresentationFormat>Widescreen</PresentationFormat>
  <Paragraphs>219</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system-ui</vt:lpstr>
      <vt:lpstr>Office Theme</vt:lpstr>
      <vt:lpstr>PowerPoint Presentation</vt:lpstr>
      <vt:lpstr>PowerPoint Presentation</vt:lpstr>
      <vt:lpstr>  Objective of the Project </vt:lpstr>
      <vt:lpstr> Web Scraping – Details</vt:lpstr>
      <vt:lpstr>Summary of the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Price ranges across  Fuel Type</vt:lpstr>
      <vt:lpstr>PowerPoint Presentation</vt:lpstr>
      <vt:lpstr>PowerPoint Presentation</vt:lpstr>
      <vt:lpstr>PowerPoint Presentation</vt:lpstr>
      <vt:lpstr>PowerPoint Presentation</vt:lpstr>
      <vt:lpstr>Key Business Questions</vt:lpstr>
      <vt:lpstr>PowerPoint Presentation</vt:lpstr>
      <vt:lpstr>Your Experience/Challenges working on Web Scraping – Data Analysis Project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 Manila</cp:lastModifiedBy>
  <cp:revision>18</cp:revision>
  <dcterms:created xsi:type="dcterms:W3CDTF">2021-02-16T05:19:01Z</dcterms:created>
  <dcterms:modified xsi:type="dcterms:W3CDTF">2026-02-17T16:13:15Z</dcterms:modified>
</cp:coreProperties>
</file>